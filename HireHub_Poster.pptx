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1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628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KLH Logo Image">
            <a:extLst>
              <a:ext uri="{FF2B5EF4-FFF2-40B4-BE49-F238E27FC236}">
                <a16:creationId xmlns:a16="http://schemas.microsoft.com/office/drawing/2014/main" id="{4A95C7D0-A9A5-9CF9-98C4-CE96F15AE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93192"/>
            <a:ext cx="1133856" cy="1133856"/>
          </a:xfrm>
          <a:prstGeom prst="rect">
            <a:avLst/>
          </a:prstGeom>
        </p:spPr>
      </p:pic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– AI Resume-Matching Job Portal</a:t>
            </a:r>
            <a:endParaRPr lang="en-US" sz="3350" dirty="0"/>
          </a:p>
          <a:p>
            <a:pPr>
              <a:spcAft>
                <a:spcPts val="400"/>
              </a:spcAft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[12]  |  Section: [S-3]  |  Members: [A V S N R Akhila - 2520030022], [Manasvi Nilesh Ghag – 2520030335], |  Guide: [Dr. Spandana. S]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where candidates’ resumes are AI-parsed into skills and matched to recruiters’ jobs; built with React, Express and MongoDB.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skill-based hiring for both sides.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Portals rely on keyword search and manual resume screening, not skill fit.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Auto-parse resumes into skills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Score every job by skill match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Track hiring from apply to offer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Candidate, recruiter, admin; web app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617720" cy="24460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form filling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OCR extraction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search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match score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often hidden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7-stage status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Arranged by email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+ feedback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Recruiters screen each resume by hand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score saved on every application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One JavaScript stack (React, Node.js, MongoDB); all tools freely available.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Open-source stack; AI parsing is optional, with a free rule-based fallback.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Role-based dashboards and one-click resume upload; easy to maintain.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Built module by module within the semester timeline.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React 19 + Vite, React Router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Node.js + Express + REST APIs; Gemini API, pdf-parse, Tesseract OCR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MongoDB with Mongoose ODM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Git &amp; GitHub, VS Code, npm, nodemon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01" name="Diagram 201"/>
          <p:cNvSpPr/>
          <p:nvPr/>
        </p:nvSpPr>
        <p:spPr>
          <a:xfrm>
            <a:off x="5733288" y="5111496"/>
            <a:ext cx="1133856" cy="93268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Front-End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React SPA (Vite)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Candidate, Recruiter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&amp; Admin views</a:t>
            </a:r>
          </a:p>
        </p:txBody>
      </p:sp>
      <p:sp>
        <p:nvSpPr>
          <p:cNvPr id="202" name="Diagram 202"/>
          <p:cNvSpPr/>
          <p:nvPr/>
        </p:nvSpPr>
        <p:spPr>
          <a:xfrm>
            <a:off x="7342632" y="5111496"/>
            <a:ext cx="1133856" cy="932688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REST API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Node.js + Express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JWT auth + role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guards, Multer</a:t>
            </a:r>
          </a:p>
        </p:txBody>
      </p:sp>
      <p:sp>
        <p:nvSpPr>
          <p:cNvPr id="203" name="Diagram 203"/>
          <p:cNvSpPr/>
          <p:nvPr/>
        </p:nvSpPr>
        <p:spPr>
          <a:xfrm>
            <a:off x="8951976" y="5111496"/>
            <a:ext cx="1133856" cy="932688"/>
          </a:xfrm>
          <a:prstGeom prst="can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36576" tIns="18288" rIns="36576" bIns="18288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Database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MongoDB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via Mongoose ODM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7 collections</a:t>
            </a:r>
          </a:p>
        </p:txBody>
      </p:sp>
      <p:cxnSp>
        <p:nvCxnSpPr>
          <p:cNvPr id="204" name="Connector 204"/>
          <p:cNvCxnSpPr/>
          <p:nvPr/>
        </p:nvCxnSpPr>
        <p:spPr>
          <a:xfrm>
            <a:off x="6867144" y="5486400"/>
            <a:ext cx="475488" cy="0"/>
          </a:xfrm>
          <a:prstGeom prst="line">
            <a:avLst/>
          </a:prstGeom>
          <a:ln w="15875">
            <a:solidFill>
              <a:srgbClr val="6D28D9"/>
            </a:solidFill>
            <a:tailEnd type="triangle" w="sm" len="sm"/>
          </a:ln>
        </p:spPr>
      </p:cxnSp>
      <p:cxnSp>
        <p:nvCxnSpPr>
          <p:cNvPr id="205" name="Connector 205"/>
          <p:cNvCxnSpPr/>
          <p:nvPr/>
        </p:nvCxnSpPr>
        <p:spPr>
          <a:xfrm flipH="1">
            <a:off x="6867144" y="5669280"/>
            <a:ext cx="475488" cy="0"/>
          </a:xfrm>
          <a:prstGeom prst="line">
            <a:avLst/>
          </a:prstGeom>
          <a:ln w="15875">
            <a:solidFill>
              <a:srgbClr val="6D28D9"/>
            </a:solidFill>
            <a:tailEnd type="triangle" w="sm" len="sm"/>
          </a:ln>
        </p:spPr>
      </p:cxnSp>
      <p:sp>
        <p:nvSpPr>
          <p:cNvPr id="206" name="Label 206"/>
          <p:cNvSpPr/>
          <p:nvPr/>
        </p:nvSpPr>
        <p:spPr>
          <a:xfrm>
            <a:off x="6876288" y="526237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HTTP/JSON</a:t>
            </a:r>
          </a:p>
        </p:txBody>
      </p:sp>
      <p:cxnSp>
        <p:nvCxnSpPr>
          <p:cNvPr id="207" name="Connector 207"/>
          <p:cNvCxnSpPr/>
          <p:nvPr/>
        </p:nvCxnSpPr>
        <p:spPr>
          <a:xfrm>
            <a:off x="8476488" y="5577840"/>
            <a:ext cx="475488" cy="0"/>
          </a:xfrm>
          <a:prstGeom prst="line">
            <a:avLst/>
          </a:prstGeom>
          <a:ln w="15875">
            <a:solidFill>
              <a:srgbClr val="6D28D9"/>
            </a:solidFill>
            <a:headEnd type="triangle" w="sm" len="sm"/>
            <a:tailEnd type="triangle" w="sm" len="sm"/>
          </a:ln>
        </p:spPr>
      </p:cxnSp>
      <p:sp>
        <p:nvSpPr>
          <p:cNvPr id="208" name="Label 208"/>
          <p:cNvSpPr/>
          <p:nvPr/>
        </p:nvSpPr>
        <p:spPr>
          <a:xfrm>
            <a:off x="8485632" y="535381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18288" rIns="0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Mongoose</a:t>
            </a:r>
          </a:p>
        </p:txBody>
      </p:sp>
      <p:sp>
        <p:nvSpPr>
          <p:cNvPr id="209" name="Diagram 209"/>
          <p:cNvSpPr/>
          <p:nvPr/>
        </p:nvSpPr>
        <p:spPr>
          <a:xfrm>
            <a:off x="5733288" y="6355080"/>
            <a:ext cx="138988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Resume Parser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pdf-parse · mammoth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Tesseract OCR · Gemini AI</a:t>
            </a:r>
          </a:p>
        </p:txBody>
      </p:sp>
      <p:sp>
        <p:nvSpPr>
          <p:cNvPr id="210" name="Diagram 210"/>
          <p:cNvSpPr/>
          <p:nvPr/>
        </p:nvSpPr>
        <p:spPr>
          <a:xfrm>
            <a:off x="7214616" y="6355080"/>
            <a:ext cx="138988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Match Scoring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% of job’s required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skills the candidate has</a:t>
            </a:r>
          </a:p>
        </p:txBody>
      </p:sp>
      <p:sp>
        <p:nvSpPr>
          <p:cNvPr id="211" name="Diagram 211"/>
          <p:cNvSpPr/>
          <p:nvPr/>
        </p:nvSpPr>
        <p:spPr>
          <a:xfrm>
            <a:off x="8695944" y="6355080"/>
            <a:ext cx="138988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cs typeface="Calibri" pitchFamily="34" charset="0"/>
              </a:rPr>
              <a:t>AI Chatbot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Gemini API, history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kept in Conversation</a:t>
            </a:r>
          </a:p>
        </p:txBody>
      </p:sp>
      <p:cxnSp>
        <p:nvCxnSpPr>
          <p:cNvPr id="212" name="Connector 212"/>
          <p:cNvCxnSpPr/>
          <p:nvPr/>
        </p:nvCxnSpPr>
        <p:spPr>
          <a:xfrm flipH="1">
            <a:off x="6611112" y="6044184"/>
            <a:ext cx="978408" cy="310896"/>
          </a:xfrm>
          <a:prstGeom prst="line">
            <a:avLst/>
          </a:prstGeom>
          <a:ln w="15875">
            <a:solidFill>
              <a:srgbClr val="6D28D9"/>
            </a:solidFill>
            <a:tailEnd type="triangle" w="sm" len="sm"/>
          </a:ln>
        </p:spPr>
      </p:cxnSp>
      <p:cxnSp>
        <p:nvCxnSpPr>
          <p:cNvPr id="213" name="Connector 213"/>
          <p:cNvCxnSpPr/>
          <p:nvPr/>
        </p:nvCxnSpPr>
        <p:spPr>
          <a:xfrm>
            <a:off x="7909560" y="6044184"/>
            <a:ext cx="0" cy="310896"/>
          </a:xfrm>
          <a:prstGeom prst="line">
            <a:avLst/>
          </a:prstGeom>
          <a:ln w="15875">
            <a:solidFill>
              <a:srgbClr val="6D28D9"/>
            </a:solidFill>
            <a:tailEnd type="triangle" w="sm" len="sm"/>
          </a:ln>
        </p:spPr>
      </p:cxnSp>
      <p:cxnSp>
        <p:nvCxnSpPr>
          <p:cNvPr id="214" name="Connector 214"/>
          <p:cNvCxnSpPr/>
          <p:nvPr/>
        </p:nvCxnSpPr>
        <p:spPr>
          <a:xfrm>
            <a:off x="8229600" y="6044184"/>
            <a:ext cx="978408" cy="310896"/>
          </a:xfrm>
          <a:prstGeom prst="line">
            <a:avLst/>
          </a:prstGeom>
          <a:ln w="15875">
            <a:solidFill>
              <a:srgbClr val="6D28D9"/>
            </a:solidFill>
            <a:tailEnd type="triangle" w="sm" len="sm"/>
          </a:ln>
        </p:spPr>
      </p:cxn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cxnSp>
        <p:nvCxnSpPr>
          <p:cNvPr id="601" name="ER Line 601"/>
          <p:cNvCxnSpPr/>
          <p:nvPr/>
        </p:nvCxnSpPr>
        <p:spPr>
          <a:xfrm>
            <a:off x="7906817" y="9326880"/>
            <a:ext cx="891540" cy="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02" name="ER Line 602"/>
          <p:cNvCxnSpPr/>
          <p:nvPr/>
        </p:nvCxnSpPr>
        <p:spPr>
          <a:xfrm>
            <a:off x="8798357" y="9326880"/>
            <a:ext cx="891540" cy="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03" name="ER Line 603"/>
          <p:cNvCxnSpPr/>
          <p:nvPr/>
        </p:nvCxnSpPr>
        <p:spPr>
          <a:xfrm flipH="1">
            <a:off x="8341157" y="8321040"/>
            <a:ext cx="434340" cy="50292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04" name="ER Line 604"/>
          <p:cNvCxnSpPr/>
          <p:nvPr/>
        </p:nvCxnSpPr>
        <p:spPr>
          <a:xfrm flipH="1">
            <a:off x="7906817" y="8823960"/>
            <a:ext cx="434340" cy="50292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05" name="ER Line 605"/>
          <p:cNvCxnSpPr/>
          <p:nvPr/>
        </p:nvCxnSpPr>
        <p:spPr>
          <a:xfrm flipV="1">
            <a:off x="7906817" y="9025128"/>
            <a:ext cx="1030986" cy="30175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06" name="ER Line 606"/>
          <p:cNvCxnSpPr/>
          <p:nvPr/>
        </p:nvCxnSpPr>
        <p:spPr>
          <a:xfrm flipV="1">
            <a:off x="8937803" y="8778240"/>
            <a:ext cx="843534" cy="246888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07" name="ER Line 607"/>
          <p:cNvCxnSpPr/>
          <p:nvPr/>
        </p:nvCxnSpPr>
        <p:spPr>
          <a:xfrm flipH="1">
            <a:off x="6672377" y="8321040"/>
            <a:ext cx="502920" cy="50292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08" name="ER Line 608"/>
          <p:cNvCxnSpPr/>
          <p:nvPr/>
        </p:nvCxnSpPr>
        <p:spPr>
          <a:xfrm flipH="1">
            <a:off x="6169457" y="8823960"/>
            <a:ext cx="502920" cy="50292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09" name="ER Line 609"/>
          <p:cNvCxnSpPr/>
          <p:nvPr/>
        </p:nvCxnSpPr>
        <p:spPr>
          <a:xfrm>
            <a:off x="7175297" y="8321040"/>
            <a:ext cx="365760" cy="50292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0" name="ER Line 610"/>
          <p:cNvCxnSpPr/>
          <p:nvPr/>
        </p:nvCxnSpPr>
        <p:spPr>
          <a:xfrm>
            <a:off x="7541057" y="8823960"/>
            <a:ext cx="365760" cy="50292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1" name="ER Line 611"/>
          <p:cNvCxnSpPr/>
          <p:nvPr/>
        </p:nvCxnSpPr>
        <p:spPr>
          <a:xfrm>
            <a:off x="6169457" y="9326880"/>
            <a:ext cx="868680" cy="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2" name="ER Line 612"/>
          <p:cNvCxnSpPr/>
          <p:nvPr/>
        </p:nvCxnSpPr>
        <p:spPr>
          <a:xfrm>
            <a:off x="7038137" y="9326880"/>
            <a:ext cx="868680" cy="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3" name="ER Line 613"/>
          <p:cNvCxnSpPr/>
          <p:nvPr/>
        </p:nvCxnSpPr>
        <p:spPr>
          <a:xfrm>
            <a:off x="7175297" y="8321040"/>
            <a:ext cx="800100" cy="27432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4" name="ER Line 614"/>
          <p:cNvCxnSpPr/>
          <p:nvPr/>
        </p:nvCxnSpPr>
        <p:spPr>
          <a:xfrm flipV="1">
            <a:off x="7975397" y="8321040"/>
            <a:ext cx="800100" cy="27432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5" name="ER Line 615"/>
          <p:cNvCxnSpPr/>
          <p:nvPr/>
        </p:nvCxnSpPr>
        <p:spPr>
          <a:xfrm>
            <a:off x="7175297" y="8321040"/>
            <a:ext cx="640080" cy="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6" name="ER Line 616"/>
          <p:cNvCxnSpPr/>
          <p:nvPr/>
        </p:nvCxnSpPr>
        <p:spPr>
          <a:xfrm>
            <a:off x="7815377" y="8321040"/>
            <a:ext cx="960120" cy="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7" name="ER Line 617"/>
          <p:cNvCxnSpPr/>
          <p:nvPr/>
        </p:nvCxnSpPr>
        <p:spPr>
          <a:xfrm flipH="1">
            <a:off x="6747358" y="8321040"/>
            <a:ext cx="427939" cy="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8" name="ER Line 618"/>
          <p:cNvCxnSpPr/>
          <p:nvPr/>
        </p:nvCxnSpPr>
        <p:spPr>
          <a:xfrm flipH="1">
            <a:off x="6105449" y="8321040"/>
            <a:ext cx="641909" cy="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19" name="ER Line 619"/>
          <p:cNvCxnSpPr/>
          <p:nvPr/>
        </p:nvCxnSpPr>
        <p:spPr>
          <a:xfrm>
            <a:off x="8775497" y="8321040"/>
            <a:ext cx="502920" cy="22860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0" name="ER Line 620"/>
          <p:cNvCxnSpPr/>
          <p:nvPr/>
        </p:nvCxnSpPr>
        <p:spPr>
          <a:xfrm>
            <a:off x="9278417" y="8549640"/>
            <a:ext cx="502920" cy="22860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1" name="ER Line 621"/>
          <p:cNvCxnSpPr/>
          <p:nvPr/>
        </p:nvCxnSpPr>
        <p:spPr>
          <a:xfrm>
            <a:off x="7126121" y="8042148"/>
            <a:ext cx="49176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2" name="ER Line 622"/>
          <p:cNvCxnSpPr/>
          <p:nvPr/>
        </p:nvCxnSpPr>
        <p:spPr>
          <a:xfrm flipH="1">
            <a:off x="7175297" y="8042148"/>
            <a:ext cx="332371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3" name="ER Line 623"/>
          <p:cNvCxnSpPr/>
          <p:nvPr/>
        </p:nvCxnSpPr>
        <p:spPr>
          <a:xfrm flipH="1" flipV="1">
            <a:off x="8775497" y="8321040"/>
            <a:ext cx="161018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4" name="ER Line 624"/>
          <p:cNvCxnSpPr/>
          <p:nvPr/>
        </p:nvCxnSpPr>
        <p:spPr>
          <a:xfrm>
            <a:off x="8443126" y="8042148"/>
            <a:ext cx="332371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5" name="ER Line 625"/>
          <p:cNvCxnSpPr/>
          <p:nvPr/>
        </p:nvCxnSpPr>
        <p:spPr>
          <a:xfrm flipH="1">
            <a:off x="8775497" y="8042148"/>
            <a:ext cx="161018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6" name="ER Line 626"/>
          <p:cNvCxnSpPr/>
          <p:nvPr/>
        </p:nvCxnSpPr>
        <p:spPr>
          <a:xfrm flipH="1" flipV="1">
            <a:off x="9781337" y="8778240"/>
            <a:ext cx="234018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7" name="ER Line 627"/>
          <p:cNvCxnSpPr/>
          <p:nvPr/>
        </p:nvCxnSpPr>
        <p:spPr>
          <a:xfrm flipH="1">
            <a:off x="9781337" y="8499348"/>
            <a:ext cx="49176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8" name="ER Line 628"/>
          <p:cNvCxnSpPr/>
          <p:nvPr/>
        </p:nvCxnSpPr>
        <p:spPr>
          <a:xfrm flipH="1" flipV="1">
            <a:off x="6105449" y="8321040"/>
            <a:ext cx="234018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29" name="ER Line 629"/>
          <p:cNvCxnSpPr/>
          <p:nvPr/>
        </p:nvCxnSpPr>
        <p:spPr>
          <a:xfrm>
            <a:off x="6003940" y="8042148"/>
            <a:ext cx="101508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30" name="ER Line 630"/>
          <p:cNvCxnSpPr/>
          <p:nvPr/>
        </p:nvCxnSpPr>
        <p:spPr>
          <a:xfrm flipV="1">
            <a:off x="6024516" y="8321040"/>
            <a:ext cx="80933" cy="458994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31" name="ER Line 631"/>
          <p:cNvCxnSpPr/>
          <p:nvPr/>
        </p:nvCxnSpPr>
        <p:spPr>
          <a:xfrm flipH="1" flipV="1">
            <a:off x="6169457" y="9326880"/>
            <a:ext cx="479581" cy="276886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32" name="ER Line 632"/>
          <p:cNvCxnSpPr/>
          <p:nvPr/>
        </p:nvCxnSpPr>
        <p:spPr>
          <a:xfrm flipV="1">
            <a:off x="6169457" y="9326880"/>
            <a:ext cx="0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33" name="ER Line 633"/>
          <p:cNvCxnSpPr/>
          <p:nvPr/>
        </p:nvCxnSpPr>
        <p:spPr>
          <a:xfrm flipH="1" flipV="1">
            <a:off x="7906817" y="9326880"/>
            <a:ext cx="332371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34" name="ER Line 634"/>
          <p:cNvCxnSpPr/>
          <p:nvPr/>
        </p:nvCxnSpPr>
        <p:spPr>
          <a:xfrm flipV="1">
            <a:off x="7672799" y="9326880"/>
            <a:ext cx="234018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35" name="ER Line 635"/>
          <p:cNvCxnSpPr/>
          <p:nvPr/>
        </p:nvCxnSpPr>
        <p:spPr>
          <a:xfrm>
            <a:off x="7256936" y="9090343"/>
            <a:ext cx="649881" cy="236537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36" name="ER Line 636"/>
          <p:cNvCxnSpPr/>
          <p:nvPr/>
        </p:nvCxnSpPr>
        <p:spPr>
          <a:xfrm flipH="1" flipV="1">
            <a:off x="9689897" y="9326880"/>
            <a:ext cx="332371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37" name="ER Line 637"/>
          <p:cNvCxnSpPr/>
          <p:nvPr/>
        </p:nvCxnSpPr>
        <p:spPr>
          <a:xfrm flipV="1">
            <a:off x="9640721" y="9326880"/>
            <a:ext cx="49176" cy="278892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cxnSp>
        <p:nvCxnSpPr>
          <p:cNvPr id="638" name="ER Line 638"/>
          <p:cNvCxnSpPr/>
          <p:nvPr/>
        </p:nvCxnSpPr>
        <p:spPr>
          <a:xfrm flipV="1">
            <a:off x="9033661" y="9326880"/>
            <a:ext cx="656236" cy="238850"/>
          </a:xfrm>
          <a:prstGeom prst="line">
            <a:avLst/>
          </a:prstGeom>
          <a:ln w="9525">
            <a:solidFill>
              <a:srgbClr val="64748B"/>
            </a:solidFill>
          </a:ln>
        </p:spPr>
      </p:cxnSp>
      <p:sp>
        <p:nvSpPr>
          <p:cNvPr id="639" name="ER Entity 639"/>
          <p:cNvSpPr/>
          <p:nvPr/>
        </p:nvSpPr>
        <p:spPr>
          <a:xfrm>
            <a:off x="6967225" y="8197596"/>
            <a:ext cx="416143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User</a:t>
            </a:r>
          </a:p>
        </p:txBody>
      </p:sp>
      <p:sp>
        <p:nvSpPr>
          <p:cNvPr id="640" name="ER Entity 640"/>
          <p:cNvSpPr/>
          <p:nvPr/>
        </p:nvSpPr>
        <p:spPr>
          <a:xfrm>
            <a:off x="8599155" y="8197596"/>
            <a:ext cx="352684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Job</a:t>
            </a:r>
          </a:p>
        </p:txBody>
      </p:sp>
      <p:sp>
        <p:nvSpPr>
          <p:cNvPr id="641" name="ER Entity 641"/>
          <p:cNvSpPr/>
          <p:nvPr/>
        </p:nvSpPr>
        <p:spPr>
          <a:xfrm>
            <a:off x="9441500" y="8654796"/>
            <a:ext cx="679674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Interview</a:t>
            </a:r>
          </a:p>
        </p:txBody>
      </p:sp>
      <p:sp>
        <p:nvSpPr>
          <p:cNvPr id="642" name="ER Entity 642"/>
          <p:cNvSpPr/>
          <p:nvPr/>
        </p:nvSpPr>
        <p:spPr>
          <a:xfrm>
            <a:off x="5669554" y="8197596"/>
            <a:ext cx="871789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Conversation</a:t>
            </a:r>
          </a:p>
        </p:txBody>
      </p:sp>
      <p:sp>
        <p:nvSpPr>
          <p:cNvPr id="643" name="ER Entity 643"/>
          <p:cNvSpPr/>
          <p:nvPr/>
        </p:nvSpPr>
        <p:spPr>
          <a:xfrm>
            <a:off x="5871682" y="9203436"/>
            <a:ext cx="595549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Resume</a:t>
            </a:r>
          </a:p>
        </p:txBody>
      </p:sp>
      <p:sp>
        <p:nvSpPr>
          <p:cNvPr id="644" name="ER Entity 644"/>
          <p:cNvSpPr/>
          <p:nvPr/>
        </p:nvSpPr>
        <p:spPr>
          <a:xfrm>
            <a:off x="7517740" y="9203436"/>
            <a:ext cx="778154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Application</a:t>
            </a:r>
          </a:p>
        </p:txBody>
      </p:sp>
      <p:sp>
        <p:nvSpPr>
          <p:cNvPr id="645" name="ER Entity 645"/>
          <p:cNvSpPr/>
          <p:nvPr/>
        </p:nvSpPr>
        <p:spPr>
          <a:xfrm>
            <a:off x="9294465" y="9203436"/>
            <a:ext cx="790865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Offer Letter</a:t>
            </a:r>
          </a:p>
        </p:txBody>
      </p:sp>
      <p:sp>
        <p:nvSpPr>
          <p:cNvPr id="646" name="ER Relationship 646"/>
          <p:cNvSpPr/>
          <p:nvPr/>
        </p:nvSpPr>
        <p:spPr>
          <a:xfrm>
            <a:off x="8418947" y="9162288"/>
            <a:ext cx="758820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Results in</a:t>
            </a:r>
          </a:p>
        </p:txBody>
      </p:sp>
      <p:sp>
        <p:nvSpPr>
          <p:cNvPr id="647" name="ER Relationship 647"/>
          <p:cNvSpPr/>
          <p:nvPr/>
        </p:nvSpPr>
        <p:spPr>
          <a:xfrm>
            <a:off x="7993335" y="8659368"/>
            <a:ext cx="695644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Receives</a:t>
            </a:r>
          </a:p>
        </p:txBody>
      </p:sp>
      <p:sp>
        <p:nvSpPr>
          <p:cNvPr id="648" name="ER Relationship 648"/>
          <p:cNvSpPr/>
          <p:nvPr/>
        </p:nvSpPr>
        <p:spPr>
          <a:xfrm>
            <a:off x="8603358" y="8860536"/>
            <a:ext cx="668889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Leads to</a:t>
            </a:r>
          </a:p>
        </p:txBody>
      </p:sp>
      <p:sp>
        <p:nvSpPr>
          <p:cNvPr id="649" name="ER Relationship 649"/>
          <p:cNvSpPr/>
          <p:nvPr/>
        </p:nvSpPr>
        <p:spPr>
          <a:xfrm>
            <a:off x="6344025" y="8659368"/>
            <a:ext cx="656703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Uploads</a:t>
            </a:r>
          </a:p>
        </p:txBody>
      </p:sp>
      <p:sp>
        <p:nvSpPr>
          <p:cNvPr id="650" name="ER Relationship 650"/>
          <p:cNvSpPr/>
          <p:nvPr/>
        </p:nvSpPr>
        <p:spPr>
          <a:xfrm>
            <a:off x="7216348" y="8659368"/>
            <a:ext cx="649419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Submits</a:t>
            </a:r>
          </a:p>
        </p:txBody>
      </p:sp>
      <p:sp>
        <p:nvSpPr>
          <p:cNvPr id="651" name="ER Relationship 651"/>
          <p:cNvSpPr/>
          <p:nvPr/>
        </p:nvSpPr>
        <p:spPr>
          <a:xfrm>
            <a:off x="6734089" y="9162288"/>
            <a:ext cx="608095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Used in</a:t>
            </a:r>
          </a:p>
        </p:txBody>
      </p:sp>
      <p:sp>
        <p:nvSpPr>
          <p:cNvPr id="652" name="ER Relationship 652"/>
          <p:cNvSpPr/>
          <p:nvPr/>
        </p:nvSpPr>
        <p:spPr>
          <a:xfrm>
            <a:off x="7738236" y="8430768"/>
            <a:ext cx="474321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Saves</a:t>
            </a:r>
          </a:p>
        </p:txBody>
      </p:sp>
      <p:sp>
        <p:nvSpPr>
          <p:cNvPr id="653" name="ER Relationship 653"/>
          <p:cNvSpPr/>
          <p:nvPr/>
        </p:nvSpPr>
        <p:spPr>
          <a:xfrm>
            <a:off x="7589143" y="8156448"/>
            <a:ext cx="452468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Posts</a:t>
            </a:r>
          </a:p>
        </p:txBody>
      </p:sp>
      <p:sp>
        <p:nvSpPr>
          <p:cNvPr id="654" name="ER Relationship 654"/>
          <p:cNvSpPr/>
          <p:nvPr/>
        </p:nvSpPr>
        <p:spPr>
          <a:xfrm>
            <a:off x="6579536" y="8156448"/>
            <a:ext cx="335643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Has</a:t>
            </a:r>
          </a:p>
        </p:txBody>
      </p:sp>
      <p:sp>
        <p:nvSpPr>
          <p:cNvPr id="655" name="ER Relationship 655"/>
          <p:cNvSpPr/>
          <p:nvPr/>
        </p:nvSpPr>
        <p:spPr>
          <a:xfrm>
            <a:off x="9110595" y="8385048"/>
            <a:ext cx="335643" cy="329184"/>
          </a:xfrm>
          <a:prstGeom prst="diamond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Has</a:t>
            </a:r>
          </a:p>
        </p:txBody>
      </p:sp>
      <p:sp>
        <p:nvSpPr>
          <p:cNvPr id="656" name="ER Attribute 656"/>
          <p:cNvSpPr/>
          <p:nvPr/>
        </p:nvSpPr>
        <p:spPr>
          <a:xfrm>
            <a:off x="6999178" y="7932420"/>
            <a:ext cx="253885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_id</a:t>
            </a:r>
          </a:p>
        </p:txBody>
      </p:sp>
      <p:sp>
        <p:nvSpPr>
          <p:cNvPr id="657" name="ER Attribute 657"/>
          <p:cNvSpPr/>
          <p:nvPr/>
        </p:nvSpPr>
        <p:spPr>
          <a:xfrm>
            <a:off x="7314742" y="7932420"/>
            <a:ext cx="385851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email</a:t>
            </a:r>
          </a:p>
        </p:txBody>
      </p:sp>
      <p:sp>
        <p:nvSpPr>
          <p:cNvPr id="658" name="ER Attribute 658"/>
          <p:cNvSpPr/>
          <p:nvPr/>
        </p:nvSpPr>
        <p:spPr>
          <a:xfrm>
            <a:off x="8809573" y="8490204"/>
            <a:ext cx="253885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_id</a:t>
            </a:r>
          </a:p>
        </p:txBody>
      </p:sp>
      <p:sp>
        <p:nvSpPr>
          <p:cNvPr id="659" name="ER Attribute 659"/>
          <p:cNvSpPr/>
          <p:nvPr/>
        </p:nvSpPr>
        <p:spPr>
          <a:xfrm>
            <a:off x="8291119" y="7932420"/>
            <a:ext cx="304015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title</a:t>
            </a:r>
          </a:p>
        </p:txBody>
      </p:sp>
      <p:sp>
        <p:nvSpPr>
          <p:cNvPr id="660" name="ER Attribute 660"/>
          <p:cNvSpPr/>
          <p:nvPr/>
        </p:nvSpPr>
        <p:spPr>
          <a:xfrm>
            <a:off x="8644080" y="7932420"/>
            <a:ext cx="584871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company</a:t>
            </a:r>
          </a:p>
        </p:txBody>
      </p:sp>
      <p:sp>
        <p:nvSpPr>
          <p:cNvPr id="661" name="ER Attribute 661"/>
          <p:cNvSpPr/>
          <p:nvPr/>
        </p:nvSpPr>
        <p:spPr>
          <a:xfrm>
            <a:off x="9888413" y="8947404"/>
            <a:ext cx="253885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_id</a:t>
            </a:r>
          </a:p>
        </p:txBody>
      </p:sp>
      <p:sp>
        <p:nvSpPr>
          <p:cNvPr id="662" name="ER Attribute 662"/>
          <p:cNvSpPr/>
          <p:nvPr/>
        </p:nvSpPr>
        <p:spPr>
          <a:xfrm>
            <a:off x="9624573" y="8389620"/>
            <a:ext cx="411880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status</a:t>
            </a:r>
          </a:p>
        </p:txBody>
      </p:sp>
      <p:sp>
        <p:nvSpPr>
          <p:cNvPr id="663" name="ER Attribute 663"/>
          <p:cNvSpPr/>
          <p:nvPr/>
        </p:nvSpPr>
        <p:spPr>
          <a:xfrm>
            <a:off x="6212525" y="8490204"/>
            <a:ext cx="253885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_id</a:t>
            </a:r>
          </a:p>
        </p:txBody>
      </p:sp>
      <p:sp>
        <p:nvSpPr>
          <p:cNvPr id="664" name="ER Attribute 664"/>
          <p:cNvSpPr/>
          <p:nvPr/>
        </p:nvSpPr>
        <p:spPr>
          <a:xfrm>
            <a:off x="5699401" y="7932420"/>
            <a:ext cx="609079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messages</a:t>
            </a:r>
          </a:p>
        </p:txBody>
      </p:sp>
      <p:sp>
        <p:nvSpPr>
          <p:cNvPr id="665" name="ER Attribute 665"/>
          <p:cNvSpPr/>
          <p:nvPr/>
        </p:nvSpPr>
        <p:spPr>
          <a:xfrm>
            <a:off x="5743220" y="8670306"/>
            <a:ext cx="562591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userRole</a:t>
            </a:r>
          </a:p>
        </p:txBody>
      </p:sp>
      <p:sp>
        <p:nvSpPr>
          <p:cNvPr id="666" name="ER Attribute 666"/>
          <p:cNvSpPr/>
          <p:nvPr/>
        </p:nvSpPr>
        <p:spPr>
          <a:xfrm>
            <a:off x="6522095" y="9494038"/>
            <a:ext cx="253885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_id</a:t>
            </a:r>
          </a:p>
        </p:txBody>
      </p:sp>
      <p:sp>
        <p:nvSpPr>
          <p:cNvPr id="667" name="ER Attribute 667"/>
          <p:cNvSpPr/>
          <p:nvPr/>
        </p:nvSpPr>
        <p:spPr>
          <a:xfrm>
            <a:off x="5879806" y="9496044"/>
            <a:ext cx="579301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fileName</a:t>
            </a:r>
          </a:p>
        </p:txBody>
      </p:sp>
      <p:sp>
        <p:nvSpPr>
          <p:cNvPr id="668" name="ER Attribute 668"/>
          <p:cNvSpPr/>
          <p:nvPr/>
        </p:nvSpPr>
        <p:spPr>
          <a:xfrm>
            <a:off x="8112245" y="9496044"/>
            <a:ext cx="253885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_id</a:t>
            </a:r>
          </a:p>
        </p:txBody>
      </p:sp>
      <p:sp>
        <p:nvSpPr>
          <p:cNvPr id="669" name="ER Attribute 669"/>
          <p:cNvSpPr/>
          <p:nvPr/>
        </p:nvSpPr>
        <p:spPr>
          <a:xfrm>
            <a:off x="7308756" y="9496044"/>
            <a:ext cx="728085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matchScore</a:t>
            </a:r>
          </a:p>
        </p:txBody>
      </p:sp>
      <p:sp>
        <p:nvSpPr>
          <p:cNvPr id="670" name="ER Attribute 670"/>
          <p:cNvSpPr/>
          <p:nvPr/>
        </p:nvSpPr>
        <p:spPr>
          <a:xfrm>
            <a:off x="7050996" y="8980615"/>
            <a:ext cx="411880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status</a:t>
            </a:r>
          </a:p>
        </p:txBody>
      </p:sp>
      <p:sp>
        <p:nvSpPr>
          <p:cNvPr id="671" name="ER Attribute 671"/>
          <p:cNvSpPr/>
          <p:nvPr/>
        </p:nvSpPr>
        <p:spPr>
          <a:xfrm>
            <a:off x="9895325" y="9496044"/>
            <a:ext cx="253885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_id</a:t>
            </a:r>
          </a:p>
        </p:txBody>
      </p:sp>
      <p:sp>
        <p:nvSpPr>
          <p:cNvPr id="672" name="ER Attribute 672"/>
          <p:cNvSpPr/>
          <p:nvPr/>
        </p:nvSpPr>
        <p:spPr>
          <a:xfrm>
            <a:off x="9439387" y="9496044"/>
            <a:ext cx="402668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salary</a:t>
            </a:r>
          </a:p>
        </p:txBody>
      </p:sp>
      <p:sp>
        <p:nvSpPr>
          <p:cNvPr id="673" name="ER Attribute 673"/>
          <p:cNvSpPr/>
          <p:nvPr/>
        </p:nvSpPr>
        <p:spPr>
          <a:xfrm>
            <a:off x="8827721" y="9456002"/>
            <a:ext cx="411880" cy="219456"/>
          </a:xfrm>
          <a:prstGeom prst="ellipse">
            <a:avLst/>
          </a:prstGeom>
          <a:solidFill>
            <a:srgbClr val="FCE7F3"/>
          </a:solidFill>
          <a:ln w="9525">
            <a:solidFill>
              <a:srgbClr val="DB2777"/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status</a:t>
            </a:r>
          </a:p>
        </p:txBody>
      </p:sp>
      <p:sp>
        <p:nvSpPr>
          <p:cNvPr id="674" name="ER Cardinality 674"/>
          <p:cNvSpPr/>
          <p:nvPr/>
        </p:nvSpPr>
        <p:spPr>
          <a:xfrm>
            <a:off x="8451205" y="9404604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75" name="ER Cardinality 675"/>
          <p:cNvSpPr/>
          <p:nvPr/>
        </p:nvSpPr>
        <p:spPr>
          <a:xfrm>
            <a:off x="9148023" y="9345168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76" name="ER Cardinality 676"/>
          <p:cNvSpPr/>
          <p:nvPr/>
        </p:nvSpPr>
        <p:spPr>
          <a:xfrm>
            <a:off x="8559465" y="8615937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77" name="ER Cardinality 677"/>
          <p:cNvSpPr/>
          <p:nvPr/>
        </p:nvSpPr>
        <p:spPr>
          <a:xfrm>
            <a:off x="8004936" y="8913111"/>
            <a:ext cx="125821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N</a:t>
            </a:r>
          </a:p>
        </p:txBody>
      </p:sp>
      <p:sp>
        <p:nvSpPr>
          <p:cNvPr id="678" name="ER Cardinality 678"/>
          <p:cNvSpPr/>
          <p:nvPr/>
        </p:nvSpPr>
        <p:spPr>
          <a:xfrm>
            <a:off x="8417052" y="9006733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79" name="ER Cardinality 679"/>
          <p:cNvSpPr/>
          <p:nvPr/>
        </p:nvSpPr>
        <p:spPr>
          <a:xfrm>
            <a:off x="9342844" y="8924007"/>
            <a:ext cx="125821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N</a:t>
            </a:r>
          </a:p>
        </p:txBody>
      </p:sp>
      <p:sp>
        <p:nvSpPr>
          <p:cNvPr id="680" name="ER Cardinality 680"/>
          <p:cNvSpPr/>
          <p:nvPr/>
        </p:nvSpPr>
        <p:spPr>
          <a:xfrm>
            <a:off x="6912796" y="8598419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81" name="ER Cardinality 681"/>
          <p:cNvSpPr/>
          <p:nvPr/>
        </p:nvSpPr>
        <p:spPr>
          <a:xfrm>
            <a:off x="6301114" y="8917698"/>
            <a:ext cx="125821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N</a:t>
            </a:r>
          </a:p>
        </p:txBody>
      </p:sp>
      <p:sp>
        <p:nvSpPr>
          <p:cNvPr id="682" name="ER Cardinality 682"/>
          <p:cNvSpPr/>
          <p:nvPr/>
        </p:nvSpPr>
        <p:spPr>
          <a:xfrm>
            <a:off x="7232931" y="8571942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83" name="ER Cardinality 683"/>
          <p:cNvSpPr/>
          <p:nvPr/>
        </p:nvSpPr>
        <p:spPr>
          <a:xfrm>
            <a:off x="7514797" y="9001477"/>
            <a:ext cx="125821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N</a:t>
            </a:r>
          </a:p>
        </p:txBody>
      </p:sp>
      <p:sp>
        <p:nvSpPr>
          <p:cNvPr id="684" name="ER Cardinality 684"/>
          <p:cNvSpPr/>
          <p:nvPr/>
        </p:nvSpPr>
        <p:spPr>
          <a:xfrm>
            <a:off x="6622542" y="9345168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85" name="ER Cardinality 685"/>
          <p:cNvSpPr/>
          <p:nvPr/>
        </p:nvSpPr>
        <p:spPr>
          <a:xfrm>
            <a:off x="7326813" y="9345168"/>
            <a:ext cx="125821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N</a:t>
            </a:r>
          </a:p>
        </p:txBody>
      </p:sp>
      <p:sp>
        <p:nvSpPr>
          <p:cNvPr id="686" name="ER Cardinality 686"/>
          <p:cNvSpPr/>
          <p:nvPr/>
        </p:nvSpPr>
        <p:spPr>
          <a:xfrm>
            <a:off x="7566251" y="8537571"/>
            <a:ext cx="15124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M</a:t>
            </a:r>
          </a:p>
        </p:txBody>
      </p:sp>
      <p:sp>
        <p:nvSpPr>
          <p:cNvPr id="687" name="ER Cardinality 687"/>
          <p:cNvSpPr/>
          <p:nvPr/>
        </p:nvSpPr>
        <p:spPr>
          <a:xfrm>
            <a:off x="8271809" y="8509393"/>
            <a:ext cx="125821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N</a:t>
            </a:r>
          </a:p>
        </p:txBody>
      </p:sp>
      <p:sp>
        <p:nvSpPr>
          <p:cNvPr id="688" name="ER Cardinality 688"/>
          <p:cNvSpPr/>
          <p:nvPr/>
        </p:nvSpPr>
        <p:spPr>
          <a:xfrm>
            <a:off x="7492959" y="8183880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89" name="ER Cardinality 689"/>
          <p:cNvSpPr/>
          <p:nvPr/>
        </p:nvSpPr>
        <p:spPr>
          <a:xfrm>
            <a:off x="8325932" y="8183880"/>
            <a:ext cx="125821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N</a:t>
            </a:r>
          </a:p>
        </p:txBody>
      </p:sp>
      <p:sp>
        <p:nvSpPr>
          <p:cNvPr id="690" name="ER Cardinality 690"/>
          <p:cNvSpPr/>
          <p:nvPr/>
        </p:nvSpPr>
        <p:spPr>
          <a:xfrm>
            <a:off x="6848216" y="8051292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91" name="ER Cardinality 691"/>
          <p:cNvSpPr/>
          <p:nvPr/>
        </p:nvSpPr>
        <p:spPr>
          <a:xfrm>
            <a:off x="6542441" y="8471916"/>
            <a:ext cx="125821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N</a:t>
            </a:r>
          </a:p>
        </p:txBody>
      </p:sp>
      <p:sp>
        <p:nvSpPr>
          <p:cNvPr id="692" name="ER Cardinality 692"/>
          <p:cNvSpPr/>
          <p:nvPr/>
        </p:nvSpPr>
        <p:spPr>
          <a:xfrm>
            <a:off x="9017920" y="8296354"/>
            <a:ext cx="110002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1</a:t>
            </a:r>
          </a:p>
        </p:txBody>
      </p:sp>
      <p:sp>
        <p:nvSpPr>
          <p:cNvPr id="693" name="ER Cardinality 693"/>
          <p:cNvSpPr/>
          <p:nvPr/>
        </p:nvSpPr>
        <p:spPr>
          <a:xfrm>
            <a:off x="9460471" y="8410710"/>
            <a:ext cx="125821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N</a:t>
            </a:r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pic>
        <p:nvPicPr>
          <p:cNvPr id="32" name="Screenshot 1 Image">
            <a:extLst>
              <a:ext uri="{FF2B5EF4-FFF2-40B4-BE49-F238E27FC236}">
                <a16:creationId xmlns:a16="http://schemas.microsoft.com/office/drawing/2014/main" id="{D4BA87B7-4BE1-D416-E4ED-FA1CB925F0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7" r="1854"/>
          <a:stretch>
            <a:fillRect/>
          </a:stretch>
        </p:blipFill>
        <p:spPr>
          <a:xfrm>
            <a:off x="5676138" y="10570464"/>
            <a:ext cx="2106549" cy="1673352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pic>
        <p:nvPicPr>
          <p:cNvPr id="48" name="Screenshot 2 Image">
            <a:extLst>
              <a:ext uri="{FF2B5EF4-FFF2-40B4-BE49-F238E27FC236}">
                <a16:creationId xmlns:a16="http://schemas.microsoft.com/office/drawing/2014/main" id="{E520DD7A-98BF-9948-906C-2625082224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6" t="1327" b="1327"/>
          <a:stretch>
            <a:fillRect/>
          </a:stretch>
        </p:blipFill>
        <p:spPr>
          <a:xfrm>
            <a:off x="8029575" y="10570464"/>
            <a:ext cx="2106549" cy="1673352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REST routes over 7 MongoDB collections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with JWT role guards and 400/409 checks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AI-assisted portal for all 3 roles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scoring and tracking all delivered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(embedding) job matching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grounded in live user data</a:t>
            </a: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Meta, React Documentation, react.dev (accessed 2026)   [2] MongoDB Manual, mongodb.com/docs/manual   [3] C. de Ruijt &amp; S. Bhulai, “Job Recommender Systems: A Review”, arXiv:2111.13576, 2021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pic>
        <p:nvPicPr>
          <p:cNvPr id="24" name="GitHub QR Image">
            <a:extLst>
              <a:ext uri="{FF2B5EF4-FFF2-40B4-BE49-F238E27FC236}">
                <a16:creationId xmlns:a16="http://schemas.microsoft.com/office/drawing/2014/main" id="{914F949F-AC51-1451-F4CD-DEAE7D9F93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1764" y="14301215"/>
            <a:ext cx="749808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563</Words>
  <Application>Microsoft Office PowerPoint</Application>
  <PresentationFormat>Custom</PresentationFormat>
  <Paragraphs>133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Manasvi Ghag</cp:lastModifiedBy>
  <cp:revision>8</cp:revision>
  <dcterms:created xsi:type="dcterms:W3CDTF">2026-09-28T08:11:17Z</dcterms:created>
  <dcterms:modified xsi:type="dcterms:W3CDTF">2026-10-02T09:50:41Z</dcterms:modified>
</cp:coreProperties>
</file>