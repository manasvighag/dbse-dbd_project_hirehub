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411480" y="365760"/>
            <a:ext cx="11365992" cy="6126480"/>
          </a:xfrm>
          <a:prstGeom prst="rect">
            <a:avLst>
              <a:gd name="adj" fmla="val 3731"/>
            </a:avLst>
          </a:prstGeom>
          <a:solidFill>
            <a:schemeClr val="bg2"/>
          </a:solidFill>
          <a:ln w="19050">
            <a:solidFill>
              <a:schemeClr val="accent4"/>
            </a:solidFill>
            <a:prstDash val="solid"/>
          </a:ln>
        </p:spPr>
      </p:sp>
      <p:pic>
        <p:nvPicPr>
          <p:cNvPr id="3" name="Image 0" descr="logo.png">    </p:cNvPr>
          <p:cNvPicPr>
            <a:picLocks noChangeAspect="1"/>
          </p:cNvPicPr>
          <p:nvPr/>
        </p:nvPicPr>
        <p:blipFill>
          <a:blip r:embed="rId1"/>
          <a:stretch>
            <a:fillRect/>
          </a:stretch>
        </p:blipFill>
        <p:spPr>
          <a:xfrm>
            <a:off x="731520" y="566928"/>
            <a:ext cx="1463040" cy="694944"/>
          </a:xfrm>
          <a:prstGeom prst="rect">
            <a:avLst/>
          </a:prstGeom>
        </p:spPr>
      </p:pic>
      <p:sp>
        <p:nvSpPr>
          <p:cNvPr id="4" name="Text 1"/>
          <p:cNvSpPr/>
          <p:nvPr>
            <p:ph idx="102" type="title" hasCustomPrompt="1"/>
          </p:nvPr>
        </p:nvSpPr>
        <p:spPr>
          <a:xfrm>
            <a:off x="2468880" y="548640"/>
            <a:ext cx="7251192" cy="777240"/>
          </a:xfrm>
          <a:prstGeom prst="rect">
            <a:avLst/>
          </a:prstGeom>
          <a:noFill/>
          <a:ln/>
        </p:spPr>
        <p:txBody>
          <a:bodyPr wrap="square" rtlCol="0"/>
          <a:lstStyle>
            <a:lvl1pPr algn="ctr" indent="0" marL="0">
              <a:buNone/>
              <a:defRPr lang="en-US" sz="3200" b="1" dirty="0">
                <a:solidFill>
                  <a:schemeClr val="tx1"/>
                </a:solidFill>
              </a:defRPr>
            </a:lvl1pPr>
          </a:lstStyle>
          <a:p>
            <a:pPr algn="ctr" indent="0" marL="0">
              <a:buNone/>
            </a:pPr>
            <a:endParaRPr lang="en-US" sz="3200" dirty="0"/>
          </a:p>
        </p:txBody>
      </p:sp>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ct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2.xml"/><Relationship Id="rId12" Type="http://schemas.openxmlformats.org/officeDocument/2006/relationships/notesSlide" Target="../notesSlides/notesSlide9.xml"/><Relationship Id="rId1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2.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flipV="1">
            <a:off x="0" y="0"/>
            <a:ext cx="7863840" cy="6858000"/>
          </a:xfrm>
          <a:prstGeom prst="rtTriangle">
            <a:avLst/>
          </a:prstGeom>
          <a:solidFill>
            <a:schemeClr val="accent5"/>
          </a:solidFill>
          <a:ln w="12700">
            <a:solidFill>
              <a:schemeClr val="accent5"/>
            </a:solidFill>
            <a:prstDash val="solid"/>
          </a:ln>
        </p:spPr>
      </p:sp>
      <p:sp>
        <p:nvSpPr>
          <p:cNvPr id="3" name="Shape 1"/>
          <p:cNvSpPr/>
          <p:nvPr/>
        </p:nvSpPr>
        <p:spPr>
          <a:xfrm>
            <a:off x="7589520" y="640080"/>
            <a:ext cx="164592" cy="164592"/>
          </a:xfrm>
          <a:prstGeom prst="ellipse">
            <a:avLst/>
          </a:prstGeom>
          <a:solidFill>
            <a:schemeClr val="accent3"/>
          </a:solidFill>
          <a:ln w="12700">
            <a:solidFill>
              <a:schemeClr val="accent3"/>
            </a:solidFill>
            <a:prstDash val="solid"/>
          </a:ln>
        </p:spPr>
      </p:sp>
      <p:sp>
        <p:nvSpPr>
          <p:cNvPr id="4" name="Shape 2"/>
          <p:cNvSpPr/>
          <p:nvPr/>
        </p:nvSpPr>
        <p:spPr>
          <a:xfrm>
            <a:off x="11521440" y="3108960"/>
            <a:ext cx="164592" cy="164592"/>
          </a:xfrm>
          <a:prstGeom prst="ellipse">
            <a:avLst/>
          </a:prstGeom>
          <a:solidFill>
            <a:schemeClr val="accent3"/>
          </a:solidFill>
          <a:ln w="12700">
            <a:solidFill>
              <a:schemeClr val="accent3"/>
            </a:solidFill>
            <a:prstDash val="solid"/>
          </a:ln>
        </p:spPr>
      </p:sp>
      <p:sp>
        <p:nvSpPr>
          <p:cNvPr id="5" name="Shape 3"/>
          <p:cNvSpPr/>
          <p:nvPr/>
        </p:nvSpPr>
        <p:spPr>
          <a:xfrm>
            <a:off x="548640" y="6309360"/>
            <a:ext cx="164592" cy="164592"/>
          </a:xfrm>
          <a:prstGeom prst="ellipse">
            <a:avLst/>
          </a:prstGeom>
          <a:solidFill>
            <a:schemeClr val="accent3"/>
          </a:solidFill>
          <a:ln w="12700">
            <a:solidFill>
              <a:schemeClr val="accent3"/>
            </a:solidFill>
            <a:prstDash val="solid"/>
          </a:ln>
        </p:spPr>
      </p:sp>
      <p:sp>
        <p:nvSpPr>
          <p:cNvPr id="6" name="Shape 4"/>
          <p:cNvSpPr/>
          <p:nvPr/>
        </p:nvSpPr>
        <p:spPr>
          <a:xfrm>
            <a:off x="6583680" y="6035040"/>
            <a:ext cx="164592" cy="164592"/>
          </a:xfrm>
          <a:prstGeom prst="ellipse">
            <a:avLst/>
          </a:prstGeom>
          <a:solidFill>
            <a:schemeClr val="accent3"/>
          </a:solidFill>
          <a:ln w="12700">
            <a:solidFill>
              <a:schemeClr val="accent3"/>
            </a:solidFill>
            <a:prstDash val="solid"/>
          </a:ln>
        </p:spPr>
      </p:sp>
      <p:pic>
        <p:nvPicPr>
          <p:cNvPr id="7" name="Image 0" descr="logo.png">    </p:cNvPr>
          <p:cNvPicPr>
            <a:picLocks noChangeAspect="1"/>
          </p:cNvPicPr>
          <p:nvPr/>
        </p:nvPicPr>
        <p:blipFill>
          <a:blip r:embed="rId1"/>
          <a:stretch>
            <a:fillRect/>
          </a:stretch>
        </p:blipFill>
        <p:spPr>
          <a:xfrm>
            <a:off x="548640" y="365760"/>
            <a:ext cx="2103120" cy="996696"/>
          </a:xfrm>
          <a:prstGeom prst="rect">
            <a:avLst/>
          </a:prstGeom>
        </p:spPr>
      </p:pic>
      <p:sp>
        <p:nvSpPr>
          <p:cNvPr id="8" name="Text 5"/>
          <p:cNvSpPr txBox="1"/>
          <p:nvPr/>
        </p:nvSpPr>
        <p:spPr>
          <a:xfrm>
            <a:off x="548640" y="1417320"/>
            <a:ext cx="5486400" cy="274320"/>
          </a:xfrm>
          <a:prstGeom prst="rect">
            <a:avLst/>
          </a:prstGeom>
          <a:noFill/>
          <a:ln/>
        </p:spPr>
        <p:txBody>
          <a:bodyPr wrap="square" lIns="0" tIns="0" rIns="0" bIns="0" rtlCol="0" anchor="ctr"/>
          <a:lstStyle/>
          <a:p>
            <a:pPr indent="0" marL="0">
              <a:buNone/>
            </a:pPr>
            <a:r>
              <a:rPr lang="en-US" sz="1100" b="1" dirty="0">
                <a:solidFill>
                  <a:schemeClr val="accent1"/>
                </a:solidFill>
              </a:rPr>
              <a:t>KONERU LAKSHMAIAH EDUCATION FOUNDATION</a:t>
            </a:r>
            <a:endParaRPr lang="en-US" sz="1100" dirty="0"/>
          </a:p>
        </p:txBody>
      </p:sp>
      <p:sp>
        <p:nvSpPr>
          <p:cNvPr id="9" name="Shape 6"/>
          <p:cNvSpPr/>
          <p:nvPr/>
        </p:nvSpPr>
        <p:spPr>
          <a:xfrm>
            <a:off x="548640" y="1874520"/>
            <a:ext cx="1554480" cy="384048"/>
          </a:xfrm>
          <a:prstGeom prst="roundRect">
            <a:avLst>
              <a:gd name="adj" fmla="val 47619"/>
            </a:avLst>
          </a:prstGeom>
          <a:solidFill>
            <a:schemeClr val="accent1"/>
          </a:solidFill>
          <a:ln w="12700">
            <a:solidFill>
              <a:schemeClr val="accent1"/>
            </a:solidFill>
            <a:prstDash val="solid"/>
          </a:ln>
        </p:spPr>
      </p:sp>
      <p:sp>
        <p:nvSpPr>
          <p:cNvPr id="10" name="Text 7"/>
          <p:cNvSpPr txBox="1"/>
          <p:nvPr/>
        </p:nvSpPr>
        <p:spPr>
          <a:xfrm>
            <a:off x="548640" y="1874520"/>
            <a:ext cx="1554480" cy="384048"/>
          </a:xfrm>
          <a:prstGeom prst="rect">
            <a:avLst/>
          </a:prstGeom>
          <a:noFill/>
          <a:ln/>
        </p:spPr>
        <p:txBody>
          <a:bodyPr wrap="square" lIns="0" tIns="0" rIns="0" bIns="0" rtlCol="0" anchor="ctr"/>
          <a:lstStyle/>
          <a:p>
            <a:pPr algn="ctr" indent="0" marL="0">
              <a:buNone/>
            </a:pPr>
            <a:r>
              <a:rPr lang="en-US" sz="1300" b="1" dirty="0">
                <a:solidFill>
                  <a:schemeClr val="bg1"/>
                </a:solidFill>
              </a:rPr>
              <a:t>1st REVIEW</a:t>
            </a:r>
            <a:endParaRPr lang="en-US" sz="1300" dirty="0"/>
          </a:p>
        </p:txBody>
      </p:sp>
      <p:sp>
        <p:nvSpPr>
          <p:cNvPr id="11" name="Text 8"/>
          <p:cNvSpPr txBox="1"/>
          <p:nvPr/>
        </p:nvSpPr>
        <p:spPr>
          <a:xfrm>
            <a:off x="548640" y="2377440"/>
            <a:ext cx="6035040" cy="132588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Job Portal with Resume Parsing and Matching</a:t>
            </a:r>
            <a:endParaRPr lang="en-US" sz="3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4754880" cy="914400"/>
        </p:xfrm>
        <a:graphic>
          <a:graphicData uri="http://schemas.openxmlformats.org/drawingml/2006/table">
            <a:tbl>
              <a:tblPr/>
              <a:tblGrid>
                <a:gridCol w="2834640"/>
                <a:gridCol w="1920240"/>
              </a:tblGrid>
              <a:tr h="548640">
                <a:tc>
                  <a:txBody>
                    <a:bodyPr/>
                    <a:lstStyle/>
                    <a:p>
                      <a:pPr indent="0" marL="0">
                        <a:buNone/>
                      </a:pPr>
                      <a:r>
                        <a:rPr lang="en-US" sz="1500" b="1" dirty="0">
                          <a:solidFill>
                            <a:schemeClr val="tx1"/>
                          </a:solidFill>
                        </a:rPr>
                        <a:t>A V S N R Akhila</a:t>
                      </a:r>
                      <a:endParaRPr lang="en-US" sz="1500" dirty="0"/>
                    </a:p>
                  </a:txBody>
                  <a:tcPr marL="137160" marR="137160" marT="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2520030022</a:t>
                      </a:r>
                      <a:endParaRPr lang="en-US" sz="1500" dirty="0"/>
                    </a:p>
                  </a:txBody>
                  <a:tcPr marL="137160" marR="137160" marT="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r>
              <a:tr h="548640">
                <a:tc>
                  <a:txBody>
                    <a:bodyPr/>
                    <a:lstStyle/>
                    <a:p>
                      <a:pPr indent="0" marL="0">
                        <a:buNone/>
                      </a:pPr>
                      <a:r>
                        <a:rPr lang="en-US" sz="1500" b="1" dirty="0">
                          <a:solidFill>
                            <a:schemeClr val="tx1"/>
                          </a:solidFill>
                        </a:rPr>
                        <a:t>Manasvi Nilesh Ghag</a:t>
                      </a:r>
                      <a:endParaRPr lang="en-US" sz="1500" dirty="0"/>
                    </a:p>
                  </a:txBody>
                  <a:tcPr marL="137160" marR="137160" marT="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2520030335</a:t>
                      </a:r>
                      <a:endParaRPr lang="en-US" sz="1500" dirty="0"/>
                    </a:p>
                  </a:txBody>
                  <a:tcPr marL="137160" marR="137160" marT="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r>
            </a:tbl>
          </a:graphicData>
        </a:graphic>
      </p:graphicFrame>
      <p:sp>
        <p:nvSpPr>
          <p:cNvPr id="13" name="Text 9"/>
          <p:cNvSpPr txBox="1"/>
          <p:nvPr/>
        </p:nvSpPr>
        <p:spPr>
          <a:xfrm>
            <a:off x="548640" y="5577840"/>
            <a:ext cx="5120640" cy="1051560"/>
          </a:xfrm>
          <a:prstGeom prst="rect">
            <a:avLst/>
          </a:prstGeom>
          <a:noFill/>
          <a:ln/>
        </p:spPr>
        <p:txBody>
          <a:bodyPr wrap="square" lIns="0" tIns="0" rIns="0" bIns="0" rtlCol="0" anchor="t"/>
          <a:lstStyle/>
          <a:p>
            <a:pPr indent="0" marL="0">
              <a:buNone/>
            </a:pPr>
            <a:r>
              <a:rPr lang="en-US" sz="1400" dirty="0">
                <a:solidFill>
                  <a:schemeClr val="tx2"/>
                </a:solidFill>
              </a:rPr>
              <a:t>Under the Guidance of</a:t>
            </a:r>
            <a:endParaRPr lang="en-US" sz="1400" dirty="0"/>
          </a:p>
          <a:p>
            <a:pPr indent="0" marL="0">
              <a:buNone/>
            </a:pPr>
            <a:r>
              <a:rPr lang="en-US" sz="1400" b="1" dirty="0">
                <a:solidFill>
                  <a:schemeClr val="accent1"/>
                </a:solidFill>
              </a:rPr>
              <a:t>Dr. Spandana. S</a:t>
            </a:r>
            <a:endParaRPr lang="en-US" sz="1400" dirty="0"/>
          </a:p>
          <a:p>
            <a:pPr indent="0" marL="0">
              <a:buNone/>
            </a:pPr>
            <a:r>
              <a:rPr lang="en-US" sz="1400" b="1" dirty="0">
                <a:solidFill>
                  <a:schemeClr val="tx2"/>
                </a:solidFill>
              </a:rPr>
              <a:t>Assistant Professor</a:t>
            </a:r>
            <a:endParaRPr lang="en-US" sz="1400" dirty="0"/>
          </a:p>
          <a:p>
            <a:pPr indent="0" marL="0">
              <a:buNone/>
            </a:pPr>
            <a:r>
              <a:rPr lang="en-US" sz="1400" dirty="0">
                <a:solidFill>
                  <a:schemeClr val="tx2"/>
                </a:solidFill>
              </a:rPr>
              <a:t>Department of Computer Science and Engineering</a:t>
            </a:r>
            <a:endParaRPr lang="en-US" sz="1400" dirty="0"/>
          </a:p>
        </p:txBody>
      </p:sp>
      <p:pic>
        <p:nvPicPr>
          <p:cNvPr id="14" name="Image 1" descr="hero illustration">    </p:cNvPr>
          <p:cNvPicPr>
            <a:picLocks noChangeAspect="1"/>
          </p:cNvPicPr>
          <p:nvPr/>
        </p:nvPicPr>
        <p:blipFill>
          <a:blip r:embed="rId2"/>
          <a:stretch>
            <a:fillRect/>
          </a:stretch>
        </p:blipFill>
        <p:spPr>
          <a:xfrm>
            <a:off x="6675120" y="1097280"/>
            <a:ext cx="5120640" cy="428704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2468880" y="548640"/>
            <a:ext cx="7251192" cy="777240"/>
          </a:xfrm>
          <a:prstGeom prst="rect">
            <a:avLst/>
          </a:prstGeom>
          <a:noFill/>
          <a:ln/>
        </p:spPr>
        <p:txBody>
          <a:bodyPr wrap="square" lIns="0" tIns="0" rIns="0" bIns="0" rtlCol="0" anchor="ctr"/>
          <a:lstStyle/>
          <a:p>
            <a:pPr algn="ctr" indent="0" marL="0">
              <a:buNone/>
            </a:pPr>
            <a:r>
              <a:rPr lang="en-US" sz="3200" b="1" dirty="0">
                <a:solidFill>
                  <a:schemeClr val="tx1"/>
                </a:solidFill>
              </a:rPr>
              <a:t>TEAM NUMBER : 12</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194560" y="2103120"/>
          <a:ext cx="7772400" cy="914400"/>
        </p:xfrm>
        <a:graphic>
          <a:graphicData uri="http://schemas.openxmlformats.org/drawingml/2006/table">
            <a:tbl>
              <a:tblPr/>
              <a:tblGrid>
                <a:gridCol w="4572000"/>
                <a:gridCol w="3200400"/>
              </a:tblGrid>
              <a:tr h="777240">
                <a:tc>
                  <a:txBody>
                    <a:bodyPr/>
                    <a:lstStyle/>
                    <a:p>
                      <a:pPr indent="0" marL="0">
                        <a:buNone/>
                      </a:pPr>
                      <a:r>
                        <a:rPr lang="en-US" sz="1800" b="1" dirty="0">
                          <a:solidFill>
                            <a:schemeClr val="bg1"/>
                          </a:solidFill>
                        </a:rPr>
                        <a:t>Name of Candidate</a:t>
                      </a:r>
                      <a:endParaRPr lang="en-US" sz="1800" dirty="0"/>
                    </a:p>
                  </a:txBody>
                  <a:tcPr marL="228600" marR="228600" marT="0" marB="0" anchor="ctr">
                    <a:lnL w="12700" cap="flat" cmpd="sng" algn="ctr">
                      <a:solidFill>
                        <a:srgbClr val="E3D8F7"/>
                      </a:solidFill>
                      <a:prstDash val="solid"/>
                      <a:round/>
                      <a:headEnd type="none" w="med" len="med"/>
                      <a:tailEnd type="none" w="med" len="med"/>
                    </a:lnL>
                    <a:lnR w="12700" cap="flat" cmpd="sng" algn="ctr">
                      <a:solidFill>
                        <a:srgbClr val="E3D8F7"/>
                      </a:solidFill>
                      <a:prstDash val="solid"/>
                      <a:round/>
                      <a:headEnd type="none" w="med" len="med"/>
                      <a:tailEnd type="none" w="med" len="med"/>
                    </a:lnR>
                    <a:lnT w="12700" cap="flat" cmpd="sng" algn="ctr">
                      <a:solidFill>
                        <a:srgbClr val="E3D8F7"/>
                      </a:solidFill>
                      <a:prstDash val="solid"/>
                      <a:round/>
                      <a:headEnd type="none" w="med" len="med"/>
                      <a:tailEnd type="none" w="med" len="med"/>
                    </a:lnT>
                    <a:lnB w="12700" cap="flat" cmpd="sng" algn="ctr">
                      <a:solidFill>
                        <a:srgbClr val="E3D8F7"/>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Role</a:t>
                      </a:r>
                      <a:endParaRPr lang="en-US" sz="1800" dirty="0"/>
                    </a:p>
                  </a:txBody>
                  <a:tcPr marL="228600" marR="228600" marT="0" marB="0" anchor="ctr">
                    <a:lnL w="12700" cap="flat" cmpd="sng" algn="ctr">
                      <a:solidFill>
                        <a:srgbClr val="E3D8F7"/>
                      </a:solidFill>
                      <a:prstDash val="solid"/>
                      <a:round/>
                      <a:headEnd type="none" w="med" len="med"/>
                      <a:tailEnd type="none" w="med" len="med"/>
                    </a:lnL>
                    <a:lnR w="12700" cap="flat" cmpd="sng" algn="ctr">
                      <a:solidFill>
                        <a:srgbClr val="E3D8F7"/>
                      </a:solidFill>
                      <a:prstDash val="solid"/>
                      <a:round/>
                      <a:headEnd type="none" w="med" len="med"/>
                      <a:tailEnd type="none" w="med" len="med"/>
                    </a:lnR>
                    <a:lnT w="12700" cap="flat" cmpd="sng" algn="ctr">
                      <a:solidFill>
                        <a:srgbClr val="E3D8F7"/>
                      </a:solidFill>
                      <a:prstDash val="solid"/>
                      <a:round/>
                      <a:headEnd type="none" w="med" len="med"/>
                      <a:tailEnd type="none" w="med" len="med"/>
                    </a:lnT>
                    <a:lnB w="12700" cap="flat" cmpd="sng" algn="ctr">
                      <a:solidFill>
                        <a:srgbClr val="E3D8F7"/>
                      </a:solidFill>
                      <a:prstDash val="solid"/>
                      <a:round/>
                      <a:headEnd type="none" w="med" len="med"/>
                      <a:tailEnd type="none" w="med" len="med"/>
                    </a:lnB>
                    <a:solidFill>
                      <a:schemeClr val="accent1"/>
                    </a:solidFill>
                  </a:tcPr>
                </a:tc>
              </a:tr>
              <a:tr h="777240">
                <a:tc>
                  <a:txBody>
                    <a:bodyPr/>
                    <a:lstStyle/>
                    <a:p>
                      <a:pPr indent="0" marL="0">
                        <a:buNone/>
                      </a:pPr>
                      <a:r>
                        <a:rPr lang="en-US" sz="1800" b="1" dirty="0">
                          <a:solidFill>
                            <a:schemeClr val="tx1"/>
                          </a:solidFill>
                        </a:rPr>
                        <a:t>A V S N R Akhila</a:t>
                      </a:r>
                      <a:endParaRPr lang="en-US" sz="1800" dirty="0"/>
                    </a:p>
                  </a:txBody>
                  <a:tcPr marL="228600" marR="228600" marT="0" marB="0" anchor="ctr">
                    <a:lnL w="12700" cap="flat" cmpd="sng" algn="ctr">
                      <a:solidFill>
                        <a:srgbClr val="E3D8F7"/>
                      </a:solidFill>
                      <a:prstDash val="solid"/>
                      <a:round/>
                      <a:headEnd type="none" w="med" len="med"/>
                      <a:tailEnd type="none" w="med" len="med"/>
                    </a:lnL>
                    <a:lnR w="12700" cap="flat" cmpd="sng" algn="ctr">
                      <a:solidFill>
                        <a:srgbClr val="E3D8F7"/>
                      </a:solidFill>
                      <a:prstDash val="solid"/>
                      <a:round/>
                      <a:headEnd type="none" w="med" len="med"/>
                      <a:tailEnd type="none" w="med" len="med"/>
                    </a:lnR>
                    <a:lnT w="12700" cap="flat" cmpd="sng" algn="ctr">
                      <a:solidFill>
                        <a:srgbClr val="E3D8F7"/>
                      </a:solidFill>
                      <a:prstDash val="solid"/>
                      <a:round/>
                      <a:headEnd type="none" w="med" len="med"/>
                      <a:tailEnd type="none" w="med" len="med"/>
                    </a:lnT>
                    <a:lnB w="12700" cap="flat" cmpd="sng" algn="ctr">
                      <a:solidFill>
                        <a:srgbClr val="E3D8F7"/>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Team Member</a:t>
                      </a:r>
                      <a:endParaRPr lang="en-US" sz="1800" dirty="0"/>
                    </a:p>
                  </a:txBody>
                  <a:tcPr marL="228600" marR="228600" marT="0" marB="0" anchor="ctr">
                    <a:lnL w="12700" cap="flat" cmpd="sng" algn="ctr">
                      <a:solidFill>
                        <a:srgbClr val="E3D8F7"/>
                      </a:solidFill>
                      <a:prstDash val="solid"/>
                      <a:round/>
                      <a:headEnd type="none" w="med" len="med"/>
                      <a:tailEnd type="none" w="med" len="med"/>
                    </a:lnL>
                    <a:lnR w="12700" cap="flat" cmpd="sng" algn="ctr">
                      <a:solidFill>
                        <a:srgbClr val="E3D8F7"/>
                      </a:solidFill>
                      <a:prstDash val="solid"/>
                      <a:round/>
                      <a:headEnd type="none" w="med" len="med"/>
                      <a:tailEnd type="none" w="med" len="med"/>
                    </a:lnR>
                    <a:lnT w="12700" cap="flat" cmpd="sng" algn="ctr">
                      <a:solidFill>
                        <a:srgbClr val="E3D8F7"/>
                      </a:solidFill>
                      <a:prstDash val="solid"/>
                      <a:round/>
                      <a:headEnd type="none" w="med" len="med"/>
                      <a:tailEnd type="none" w="med" len="med"/>
                    </a:lnT>
                    <a:lnB w="12700" cap="flat" cmpd="sng" algn="ctr">
                      <a:solidFill>
                        <a:srgbClr val="E3D8F7"/>
                      </a:solidFill>
                      <a:prstDash val="solid"/>
                      <a:round/>
                      <a:headEnd type="none" w="med" len="med"/>
                      <a:tailEnd type="none" w="med" len="med"/>
                    </a:lnB>
                    <a:solidFill>
                      <a:schemeClr val="bg1"/>
                    </a:solidFill>
                  </a:tcPr>
                </a:tc>
              </a:tr>
              <a:tr h="777240">
                <a:tc>
                  <a:txBody>
                    <a:bodyPr/>
                    <a:lstStyle/>
                    <a:p>
                      <a:pPr indent="0" marL="0">
                        <a:buNone/>
                      </a:pPr>
                      <a:r>
                        <a:rPr lang="en-US" sz="1800" b="1" dirty="0">
                          <a:solidFill>
                            <a:schemeClr val="tx1"/>
                          </a:solidFill>
                        </a:rPr>
                        <a:t>Manasvi Nilesh Ghag</a:t>
                      </a:r>
                      <a:endParaRPr lang="en-US" sz="1800" dirty="0"/>
                    </a:p>
                  </a:txBody>
                  <a:tcPr marL="228600" marR="228600" marT="0" marB="0" anchor="ctr">
                    <a:lnL w="12700" cap="flat" cmpd="sng" algn="ctr">
                      <a:solidFill>
                        <a:srgbClr val="E3D8F7"/>
                      </a:solidFill>
                      <a:prstDash val="solid"/>
                      <a:round/>
                      <a:headEnd type="none" w="med" len="med"/>
                      <a:tailEnd type="none" w="med" len="med"/>
                    </a:lnL>
                    <a:lnR w="12700" cap="flat" cmpd="sng" algn="ctr">
                      <a:solidFill>
                        <a:srgbClr val="E3D8F7"/>
                      </a:solidFill>
                      <a:prstDash val="solid"/>
                      <a:round/>
                      <a:headEnd type="none" w="med" len="med"/>
                      <a:tailEnd type="none" w="med" len="med"/>
                    </a:lnR>
                    <a:lnT w="12700" cap="flat" cmpd="sng" algn="ctr">
                      <a:solidFill>
                        <a:srgbClr val="E3D8F7"/>
                      </a:solidFill>
                      <a:prstDash val="solid"/>
                      <a:round/>
                      <a:headEnd type="none" w="med" len="med"/>
                      <a:tailEnd type="none" w="med" len="med"/>
                    </a:lnT>
                    <a:lnB w="12700" cap="flat" cmpd="sng" algn="ctr">
                      <a:solidFill>
                        <a:srgbClr val="E3D8F7"/>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Team Member</a:t>
                      </a:r>
                      <a:endParaRPr lang="en-US" sz="1800" dirty="0"/>
                    </a:p>
                  </a:txBody>
                  <a:tcPr marL="228600" marR="228600" marT="0" marB="0" anchor="ctr">
                    <a:lnL w="12700" cap="flat" cmpd="sng" algn="ctr">
                      <a:solidFill>
                        <a:srgbClr val="E3D8F7"/>
                      </a:solidFill>
                      <a:prstDash val="solid"/>
                      <a:round/>
                      <a:headEnd type="none" w="med" len="med"/>
                      <a:tailEnd type="none" w="med" len="med"/>
                    </a:lnL>
                    <a:lnR w="12700" cap="flat" cmpd="sng" algn="ctr">
                      <a:solidFill>
                        <a:srgbClr val="E3D8F7"/>
                      </a:solidFill>
                      <a:prstDash val="solid"/>
                      <a:round/>
                      <a:headEnd type="none" w="med" len="med"/>
                      <a:tailEnd type="none" w="med" len="med"/>
                    </a:lnR>
                    <a:lnT w="12700" cap="flat" cmpd="sng" algn="ctr">
                      <a:solidFill>
                        <a:srgbClr val="E3D8F7"/>
                      </a:solidFill>
                      <a:prstDash val="solid"/>
                      <a:round/>
                      <a:headEnd type="none" w="med" len="med"/>
                      <a:tailEnd type="none" w="med" len="med"/>
                    </a:lnT>
                    <a:lnB w="12700" cap="flat" cmpd="sng" algn="ctr">
                      <a:solidFill>
                        <a:srgbClr val="E3D8F7"/>
                      </a:solidFill>
                      <a:prstDash val="solid"/>
                      <a:round/>
                      <a:headEnd type="none" w="med" len="med"/>
                      <a:tailEnd type="none" w="med" len="med"/>
                    </a:lnB>
                    <a:solidFill>
                      <a:schemeClr val="bg1"/>
                    </a:solidFill>
                  </a:tcPr>
                </a:tc>
              </a:tr>
            </a:tbl>
          </a:graphicData>
        </a:graphic>
      </p:graphicFrame>
      <p:pic>
        <p:nvPicPr>
          <p:cNvPr id="10" name="Image 0" descr="hired illustration">    </p:cNvPr>
          <p:cNvPicPr>
            <a:picLocks noChangeAspect="1"/>
          </p:cNvPicPr>
          <p:nvPr/>
        </p:nvPicPr>
        <p:blipFill>
          <a:blip r:embed="rId1"/>
          <a:stretch>
            <a:fillRect/>
          </a:stretch>
        </p:blipFill>
        <p:spPr>
          <a:xfrm>
            <a:off x="457200" y="4572000"/>
            <a:ext cx="2011680" cy="1709928"/>
          </a:xfrm>
          <a:prstGeom prst="rect">
            <a:avLst/>
          </a:prstGeom>
        </p:spPr>
      </p:pic>
      <p:pic>
        <p:nvPicPr>
          <p:cNvPr id="11" name="Image 1" descr="briefcase illustration">    </p:cNvPr>
          <p:cNvPicPr>
            <a:picLocks noChangeAspect="1"/>
          </p:cNvPicPr>
          <p:nvPr/>
        </p:nvPicPr>
        <p:blipFill>
          <a:blip r:embed="rId2"/>
          <a:stretch>
            <a:fillRect/>
          </a:stretch>
        </p:blipFill>
        <p:spPr>
          <a:xfrm>
            <a:off x="9966960" y="4754880"/>
            <a:ext cx="1828800" cy="1613647"/>
          </a:xfrm>
          <a:prstGeom prst="rect">
            <a:avLst/>
          </a:prstGeom>
        </p:spPr>
      </p:pic>
      <p:pic>
        <p:nvPicPr>
          <p:cNvPr id="12" name="Image 2" descr="resume illustration">    </p:cNvPr>
          <p:cNvPicPr>
            <a:picLocks noChangeAspect="1"/>
          </p:cNvPicPr>
          <p:nvPr/>
        </p:nvPicPr>
        <p:blipFill>
          <a:blip r:embed="rId3"/>
          <a:stretch>
            <a:fillRect/>
          </a:stretch>
        </p:blipFill>
        <p:spPr>
          <a:xfrm>
            <a:off x="10241280" y="182880"/>
            <a:ext cx="1325880" cy="1574483"/>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2468880" y="548640"/>
            <a:ext cx="7251192" cy="777240"/>
          </a:xfrm>
          <a:prstGeom prst="rect">
            <a:avLst/>
          </a:prstGeom>
          <a:noFill/>
          <a:ln/>
        </p:spPr>
        <p:txBody>
          <a:bodyPr wrap="square" lIns="0" tIns="0" rIns="0" bIns="0" rtlCol="0" anchor="ctr"/>
          <a:lstStyle/>
          <a:p>
            <a:pPr algn="ctr" indent="0" marL="0">
              <a:buNone/>
            </a:pPr>
            <a:r>
              <a:rPr lang="en-US" sz="3200" b="1" dirty="0">
                <a:solidFill>
                  <a:schemeClr val="tx1"/>
                </a:solidFill>
              </a:rPr>
              <a:t>ABSTRACT</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600200" y="1600200"/>
            <a:ext cx="8988552" cy="3657600"/>
          </a:xfrm>
          <a:prstGeom prst="roundRect">
            <a:avLst>
              <a:gd name="adj" fmla="val 45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0" name="Text 8"/>
          <p:cNvSpPr txBox="1"/>
          <p:nvPr/>
        </p:nvSpPr>
        <p:spPr>
          <a:xfrm>
            <a:off x="2011680" y="1783080"/>
            <a:ext cx="8165592" cy="3291840"/>
          </a:xfrm>
          <a:prstGeom prst="rect">
            <a:avLst/>
          </a:prstGeom>
          <a:noFill/>
          <a:ln/>
        </p:spPr>
        <p:txBody>
          <a:bodyPr wrap="square" lIns="0" tIns="0" rIns="0" bIns="0" rtlCol="0" anchor="ctr"/>
          <a:lstStyle/>
          <a:p>
            <a:pPr indent="0" marL="0">
              <a:lnSpc>
                <a:spcPct val="125000"/>
              </a:lnSpc>
              <a:buNone/>
            </a:pPr>
            <a:r>
              <a:rPr lang="en-US" sz="1800" dirty="0">
                <a:solidFill>
                  <a:schemeClr val="tx2"/>
                </a:solidFill>
              </a:rPr>
              <a:t>HireHub is a smart job portal that makes hiring easier for both job seekers and recruiters. A candidate uploads a resume, and the system reads it automatically to pick out skills, education, experience and certifications. It then compares these details with the needs of each job and gives a match score. Candidates see the jobs that suit them best, and recruiters see the candidates that fit their jobs. This saves time, cuts manual work and makes hiring faster and more accurate.</a:t>
            </a:r>
            <a:endParaRPr lang="en-US" sz="1800" dirty="0"/>
          </a:p>
        </p:txBody>
      </p:sp>
      <p:pic>
        <p:nvPicPr>
          <p:cNvPr id="11" name="Image 0" descr="search illustration">    </p:cNvPr>
          <p:cNvPicPr>
            <a:picLocks noChangeAspect="1"/>
          </p:cNvPicPr>
          <p:nvPr/>
        </p:nvPicPr>
        <p:blipFill>
          <a:blip r:embed="rId1"/>
          <a:stretch>
            <a:fillRect/>
          </a:stretch>
        </p:blipFill>
        <p:spPr>
          <a:xfrm>
            <a:off x="10058400" y="182880"/>
            <a:ext cx="1600200" cy="1600200"/>
          </a:xfrm>
          <a:prstGeom prst="rect">
            <a:avLst/>
          </a:prstGeom>
        </p:spPr>
      </p:pic>
      <p:pic>
        <p:nvPicPr>
          <p:cNvPr id="12" name="Image 1" descr="laptop illustration">    </p:cNvPr>
          <p:cNvPicPr>
            <a:picLocks noChangeAspect="1"/>
          </p:cNvPicPr>
          <p:nvPr/>
        </p:nvPicPr>
        <p:blipFill>
          <a:blip r:embed="rId2"/>
          <a:stretch>
            <a:fillRect/>
          </a:stretch>
        </p:blipFill>
        <p:spPr>
          <a:xfrm>
            <a:off x="182880" y="4983480"/>
            <a:ext cx="2194560" cy="1404518"/>
          </a:xfrm>
          <a:prstGeom prst="rect">
            <a:avLst/>
          </a:prstGeom>
        </p:spPr>
      </p:pic>
      <p:pic>
        <p:nvPicPr>
          <p:cNvPr id="13" name="Image 2" descr="score illustration">    </p:cNvPr>
          <p:cNvPicPr>
            <a:picLocks noChangeAspect="1"/>
          </p:cNvPicPr>
          <p:nvPr/>
        </p:nvPicPr>
        <p:blipFill>
          <a:blip r:embed="rId3"/>
          <a:stretch>
            <a:fillRect/>
          </a:stretch>
        </p:blipFill>
        <p:spPr>
          <a:xfrm>
            <a:off x="10241280" y="4846320"/>
            <a:ext cx="1463040" cy="1463040"/>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2468880" y="548640"/>
            <a:ext cx="7251192" cy="777240"/>
          </a:xfrm>
          <a:prstGeom prst="rect">
            <a:avLst/>
          </a:prstGeom>
          <a:noFill/>
          <a:ln/>
        </p:spPr>
        <p:txBody>
          <a:bodyPr wrap="square" lIns="0" tIns="0" rIns="0" bIns="0" rtlCol="0" anchor="ctr"/>
          <a:lstStyle/>
          <a:p>
            <a:pPr algn="ctr" indent="0" marL="0">
              <a:buNone/>
            </a:pPr>
            <a:r>
              <a:rPr lang="en-US" sz="3200" b="1" dirty="0">
                <a:solidFill>
                  <a:schemeClr val="tx1"/>
                </a:solidFill>
              </a:rPr>
              <a:t>INTRODUCTION</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600200" y="1600200"/>
            <a:ext cx="8988552" cy="3657600"/>
          </a:xfrm>
          <a:prstGeom prst="roundRect">
            <a:avLst>
              <a:gd name="adj" fmla="val 45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0" name="Text 8"/>
          <p:cNvSpPr txBox="1"/>
          <p:nvPr/>
        </p:nvSpPr>
        <p:spPr>
          <a:xfrm>
            <a:off x="2011680" y="1783080"/>
            <a:ext cx="8165592" cy="3291840"/>
          </a:xfrm>
          <a:prstGeom prst="rect">
            <a:avLst/>
          </a:prstGeom>
          <a:noFill/>
          <a:ln/>
        </p:spPr>
        <p:txBody>
          <a:bodyPr wrap="square" lIns="0" tIns="0" rIns="0" bIns="0" rtlCol="0" anchor="ctr"/>
          <a:lstStyle/>
          <a:p>
            <a:pPr indent="0" marL="0">
              <a:lnSpc>
                <a:spcPct val="125000"/>
              </a:lnSpc>
              <a:buNone/>
            </a:pPr>
            <a:r>
              <a:rPr lang="en-US" sz="1800" dirty="0">
                <a:solidFill>
                  <a:schemeClr val="tx2"/>
                </a:solidFill>
              </a:rPr>
              <a:t>Today there are thousands of job openings online, so finding the right one is hard for candidates. Recruiters also receive hundreds of resumes and have to read each one by hand. Our Job Portal with Resume Parsing and Matching connects the right candidate to the right job automatically. It reads the resume, understands the important details and matches them with what the job needs. It has separate dashboards for candidates, recruiters and admins, so each user sees only what they need.</a:t>
            </a:r>
            <a:endParaRPr lang="en-US" sz="1800" dirty="0"/>
          </a:p>
        </p:txBody>
      </p:sp>
      <p:pic>
        <p:nvPicPr>
          <p:cNvPr id="11" name="Image 0" descr="briefcase illustration">    </p:cNvPr>
          <p:cNvPicPr>
            <a:picLocks noChangeAspect="1"/>
          </p:cNvPicPr>
          <p:nvPr/>
        </p:nvPicPr>
        <p:blipFill>
          <a:blip r:embed="rId1"/>
          <a:stretch>
            <a:fillRect/>
          </a:stretch>
        </p:blipFill>
        <p:spPr>
          <a:xfrm>
            <a:off x="9921240" y="228600"/>
            <a:ext cx="1737360" cy="1532965"/>
          </a:xfrm>
          <a:prstGeom prst="rect">
            <a:avLst/>
          </a:prstGeom>
        </p:spPr>
      </p:pic>
      <p:pic>
        <p:nvPicPr>
          <p:cNvPr id="12" name="Image 1" descr="person illustration">    </p:cNvPr>
          <p:cNvPicPr>
            <a:picLocks noChangeAspect="1"/>
          </p:cNvPicPr>
          <p:nvPr/>
        </p:nvPicPr>
        <p:blipFill>
          <a:blip r:embed="rId2"/>
          <a:stretch>
            <a:fillRect/>
          </a:stretch>
        </p:blipFill>
        <p:spPr>
          <a:xfrm>
            <a:off x="274320" y="4754880"/>
            <a:ext cx="1600200" cy="1706880"/>
          </a:xfrm>
          <a:prstGeom prst="rect">
            <a:avLst/>
          </a:prstGeom>
        </p:spPr>
      </p:pic>
      <p:pic>
        <p:nvPicPr>
          <p:cNvPr id="13" name="Image 2" descr="resume illustration">    </p:cNvPr>
          <p:cNvPicPr>
            <a:picLocks noChangeAspect="1"/>
          </p:cNvPicPr>
          <p:nvPr/>
        </p:nvPicPr>
        <p:blipFill>
          <a:blip r:embed="rId3"/>
          <a:stretch>
            <a:fillRect/>
          </a:stretch>
        </p:blipFill>
        <p:spPr>
          <a:xfrm>
            <a:off x="10332720" y="4754880"/>
            <a:ext cx="1280160" cy="1520190"/>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2468880" y="548640"/>
            <a:ext cx="7251192" cy="777240"/>
          </a:xfrm>
          <a:prstGeom prst="rect">
            <a:avLst/>
          </a:prstGeom>
          <a:noFill/>
          <a:ln/>
        </p:spPr>
        <p:txBody>
          <a:bodyPr wrap="square" lIns="0" tIns="0" rIns="0" bIns="0" rtlCol="0" anchor="ctr"/>
          <a:lstStyle/>
          <a:p>
            <a:pPr algn="ctr" indent="0" marL="0">
              <a:buNone/>
            </a:pPr>
            <a:r>
              <a:rPr lang="en-US" sz="3200" b="1" dirty="0">
                <a:solidFill>
                  <a:schemeClr val="tx1"/>
                </a:solidFill>
              </a:rPr>
              <a:t>EXISTING SYSTEM</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600200" y="1508760"/>
            <a:ext cx="8988552" cy="4069080"/>
          </a:xfrm>
          <a:prstGeom prst="roundRect">
            <a:avLst>
              <a:gd name="adj" fmla="val 4045"/>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0" name="Text 8"/>
          <p:cNvSpPr txBox="1"/>
          <p:nvPr/>
        </p:nvSpPr>
        <p:spPr>
          <a:xfrm>
            <a:off x="1965960" y="1645920"/>
            <a:ext cx="8229600" cy="777240"/>
          </a:xfrm>
          <a:prstGeom prst="rect">
            <a:avLst/>
          </a:prstGeom>
          <a:noFill/>
          <a:ln/>
        </p:spPr>
        <p:txBody>
          <a:bodyPr wrap="square" lIns="0" tIns="0" rIns="0" bIns="0" rtlCol="0" anchor="ctr"/>
          <a:lstStyle/>
          <a:p>
            <a:pPr indent="0" marL="0">
              <a:lnSpc>
                <a:spcPct val="125000"/>
              </a:lnSpc>
              <a:buNone/>
            </a:pPr>
            <a:r>
              <a:rPr lang="en-US" sz="1600" dirty="0">
                <a:solidFill>
                  <a:schemeClr val="tx2"/>
                </a:solidFill>
              </a:rPr>
              <a:t>Today, candidates search for jobs by hand on many job portals, and recruiters read and shortlist every resume by themselves. This has many limits:</a:t>
            </a:r>
            <a:endParaRPr lang="en-US" sz="1600" dirty="0"/>
          </a:p>
        </p:txBody>
      </p:sp>
      <p:sp>
        <p:nvSpPr>
          <p:cNvPr id="11" name="Shape 9"/>
          <p:cNvSpPr/>
          <p:nvPr/>
        </p:nvSpPr>
        <p:spPr>
          <a:xfrm>
            <a:off x="1965960" y="2578608"/>
            <a:ext cx="292608" cy="292608"/>
          </a:xfrm>
          <a:prstGeom prst="ellipse">
            <a:avLst/>
          </a:prstGeom>
          <a:solidFill>
            <a:schemeClr val="accent1"/>
          </a:solidFill>
          <a:ln w="12700">
            <a:solidFill>
              <a:schemeClr val="accent1"/>
            </a:solidFill>
            <a:prstDash val="solid"/>
          </a:ln>
        </p:spPr>
      </p:sp>
      <p:pic>
        <p:nvPicPr>
          <p:cNvPr id="12" name="Image 0" descr="preencoded.png">    </p:cNvPr>
          <p:cNvPicPr>
            <a:picLocks noChangeAspect="1"/>
          </p:cNvPicPr>
          <p:nvPr/>
        </p:nvPicPr>
        <p:blipFill>
          <a:blip r:embed="rId1"/>
          <a:stretch>
            <a:fillRect/>
          </a:stretch>
        </p:blipFill>
        <p:spPr>
          <a:xfrm>
            <a:off x="2044964" y="2657612"/>
            <a:ext cx="134600" cy="134600"/>
          </a:xfrm>
          <a:prstGeom prst="rect">
            <a:avLst/>
          </a:prstGeom>
        </p:spPr>
      </p:pic>
      <p:sp>
        <p:nvSpPr>
          <p:cNvPr id="13" name="Text 10"/>
          <p:cNvSpPr txBox="1"/>
          <p:nvPr/>
        </p:nvSpPr>
        <p:spPr>
          <a:xfrm>
            <a:off x="2423160" y="2542032"/>
            <a:ext cx="7680960" cy="365760"/>
          </a:xfrm>
          <a:prstGeom prst="rect">
            <a:avLst/>
          </a:prstGeom>
          <a:noFill/>
          <a:ln/>
        </p:spPr>
        <p:txBody>
          <a:bodyPr wrap="square" lIns="0" tIns="0" rIns="0" bIns="0" rtlCol="0" anchor="ctr"/>
          <a:lstStyle/>
          <a:p>
            <a:pPr indent="0" marL="0">
              <a:buNone/>
            </a:pPr>
            <a:r>
              <a:rPr lang="en-US" sz="1600" b="1" dirty="0">
                <a:solidFill>
                  <a:schemeClr val="tx1"/>
                </a:solidFill>
              </a:rPr>
              <a:t>Screening resumes takes a lot of time</a:t>
            </a:r>
            <a:endParaRPr lang="en-US" sz="1600" dirty="0"/>
          </a:p>
        </p:txBody>
      </p:sp>
      <p:sp>
        <p:nvSpPr>
          <p:cNvPr id="14" name="Shape 11"/>
          <p:cNvSpPr/>
          <p:nvPr/>
        </p:nvSpPr>
        <p:spPr>
          <a:xfrm>
            <a:off x="1965960" y="2999232"/>
            <a:ext cx="292608" cy="292608"/>
          </a:xfrm>
          <a:prstGeom prst="ellipse">
            <a:avLst/>
          </a:prstGeom>
          <a:solidFill>
            <a:schemeClr val="accent1"/>
          </a:solidFill>
          <a:ln w="12700">
            <a:solidFill>
              <a:schemeClr val="accent1"/>
            </a:solidFill>
            <a:prstDash val="solid"/>
          </a:ln>
        </p:spPr>
      </p:sp>
      <p:pic>
        <p:nvPicPr>
          <p:cNvPr id="15" name="Image 1" descr="preencoded.png">    </p:cNvPr>
          <p:cNvPicPr>
            <a:picLocks noChangeAspect="1"/>
          </p:cNvPicPr>
          <p:nvPr/>
        </p:nvPicPr>
        <p:blipFill>
          <a:blip r:embed="rId2"/>
          <a:stretch>
            <a:fillRect/>
          </a:stretch>
        </p:blipFill>
        <p:spPr>
          <a:xfrm>
            <a:off x="2044964" y="3078236"/>
            <a:ext cx="134600" cy="134600"/>
          </a:xfrm>
          <a:prstGeom prst="rect">
            <a:avLst/>
          </a:prstGeom>
        </p:spPr>
      </p:pic>
      <p:sp>
        <p:nvSpPr>
          <p:cNvPr id="16" name="Text 12"/>
          <p:cNvSpPr txBox="1"/>
          <p:nvPr/>
        </p:nvSpPr>
        <p:spPr>
          <a:xfrm>
            <a:off x="2423160" y="2962656"/>
            <a:ext cx="7680960" cy="365760"/>
          </a:xfrm>
          <a:prstGeom prst="rect">
            <a:avLst/>
          </a:prstGeom>
          <a:noFill/>
          <a:ln/>
        </p:spPr>
        <p:txBody>
          <a:bodyPr wrap="square" lIns="0" tIns="0" rIns="0" bIns="0" rtlCol="0" anchor="ctr"/>
          <a:lstStyle/>
          <a:p>
            <a:pPr indent="0" marL="0">
              <a:buNone/>
            </a:pPr>
            <a:r>
              <a:rPr lang="en-US" sz="1600" b="1" dirty="0">
                <a:solidFill>
                  <a:schemeClr val="tx1"/>
                </a:solidFill>
              </a:rPr>
              <a:t>Good candidates can easily be missed</a:t>
            </a:r>
            <a:endParaRPr lang="en-US" sz="1600" dirty="0"/>
          </a:p>
        </p:txBody>
      </p:sp>
      <p:sp>
        <p:nvSpPr>
          <p:cNvPr id="17" name="Shape 13"/>
          <p:cNvSpPr/>
          <p:nvPr/>
        </p:nvSpPr>
        <p:spPr>
          <a:xfrm>
            <a:off x="1965960" y="3419856"/>
            <a:ext cx="292608" cy="292608"/>
          </a:xfrm>
          <a:prstGeom prst="ellipse">
            <a:avLst/>
          </a:prstGeom>
          <a:solidFill>
            <a:schemeClr val="accent1"/>
          </a:solidFill>
          <a:ln w="12700">
            <a:solidFill>
              <a:schemeClr val="accent1"/>
            </a:solidFill>
            <a:prstDash val="solid"/>
          </a:ln>
        </p:spPr>
      </p:sp>
      <p:pic>
        <p:nvPicPr>
          <p:cNvPr id="18" name="Image 2" descr="preencoded.png">    </p:cNvPr>
          <p:cNvPicPr>
            <a:picLocks noChangeAspect="1"/>
          </p:cNvPicPr>
          <p:nvPr/>
        </p:nvPicPr>
        <p:blipFill>
          <a:blip r:embed="rId3"/>
          <a:stretch>
            <a:fillRect/>
          </a:stretch>
        </p:blipFill>
        <p:spPr>
          <a:xfrm>
            <a:off x="2044964" y="3498860"/>
            <a:ext cx="134600" cy="134600"/>
          </a:xfrm>
          <a:prstGeom prst="rect">
            <a:avLst/>
          </a:prstGeom>
        </p:spPr>
      </p:pic>
      <p:sp>
        <p:nvSpPr>
          <p:cNvPr id="19" name="Text 14"/>
          <p:cNvSpPr txBox="1"/>
          <p:nvPr/>
        </p:nvSpPr>
        <p:spPr>
          <a:xfrm>
            <a:off x="2423160" y="3383280"/>
            <a:ext cx="7680960" cy="365760"/>
          </a:xfrm>
          <a:prstGeom prst="rect">
            <a:avLst/>
          </a:prstGeom>
          <a:noFill/>
          <a:ln/>
        </p:spPr>
        <p:txBody>
          <a:bodyPr wrap="square" lIns="0" tIns="0" rIns="0" bIns="0" rtlCol="0" anchor="ctr"/>
          <a:lstStyle/>
          <a:p>
            <a:pPr indent="0" marL="0">
              <a:buNone/>
            </a:pPr>
            <a:r>
              <a:rPr lang="en-US" sz="1600" b="1" dirty="0">
                <a:solidFill>
                  <a:schemeClr val="tx1"/>
                </a:solidFill>
              </a:rPr>
              <a:t>Searching and filtering is mostly manual</a:t>
            </a:r>
            <a:endParaRPr lang="en-US" sz="1600" dirty="0"/>
          </a:p>
        </p:txBody>
      </p:sp>
      <p:sp>
        <p:nvSpPr>
          <p:cNvPr id="20" name="Shape 15"/>
          <p:cNvSpPr/>
          <p:nvPr/>
        </p:nvSpPr>
        <p:spPr>
          <a:xfrm>
            <a:off x="1965960" y="3840480"/>
            <a:ext cx="292608" cy="292608"/>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2044964" y="3919484"/>
            <a:ext cx="134600" cy="134600"/>
          </a:xfrm>
          <a:prstGeom prst="rect">
            <a:avLst/>
          </a:prstGeom>
        </p:spPr>
      </p:pic>
      <p:sp>
        <p:nvSpPr>
          <p:cNvPr id="22" name="Text 16"/>
          <p:cNvSpPr txBox="1"/>
          <p:nvPr/>
        </p:nvSpPr>
        <p:spPr>
          <a:xfrm>
            <a:off x="2423160" y="3803904"/>
            <a:ext cx="7680960" cy="365760"/>
          </a:xfrm>
          <a:prstGeom prst="rect">
            <a:avLst/>
          </a:prstGeom>
          <a:noFill/>
          <a:ln/>
        </p:spPr>
        <p:txBody>
          <a:bodyPr wrap="square" lIns="0" tIns="0" rIns="0" bIns="0" rtlCol="0" anchor="ctr"/>
          <a:lstStyle/>
          <a:p>
            <a:pPr indent="0" marL="0">
              <a:buNone/>
            </a:pPr>
            <a:r>
              <a:rPr lang="en-US" sz="1600" b="1" dirty="0">
                <a:solidFill>
                  <a:schemeClr val="tx1"/>
                </a:solidFill>
              </a:rPr>
              <a:t>Recruiters must read resumes one by one</a:t>
            </a:r>
            <a:endParaRPr lang="en-US" sz="1600" dirty="0"/>
          </a:p>
        </p:txBody>
      </p:sp>
      <p:sp>
        <p:nvSpPr>
          <p:cNvPr id="23" name="Shape 17"/>
          <p:cNvSpPr/>
          <p:nvPr/>
        </p:nvSpPr>
        <p:spPr>
          <a:xfrm>
            <a:off x="1965960" y="4261104"/>
            <a:ext cx="292608" cy="292608"/>
          </a:xfrm>
          <a:prstGeom prst="ellipse">
            <a:avLst/>
          </a:prstGeom>
          <a:solidFill>
            <a:schemeClr val="accent1"/>
          </a:solidFill>
          <a:ln w="12700">
            <a:solidFill>
              <a:schemeClr val="accent1"/>
            </a:solidFill>
            <a:prstDash val="solid"/>
          </a:ln>
        </p:spPr>
      </p:sp>
      <p:pic>
        <p:nvPicPr>
          <p:cNvPr id="24" name="Image 4" descr="preencoded.png">    </p:cNvPr>
          <p:cNvPicPr>
            <a:picLocks noChangeAspect="1"/>
          </p:cNvPicPr>
          <p:nvPr/>
        </p:nvPicPr>
        <p:blipFill>
          <a:blip r:embed="rId5"/>
          <a:stretch>
            <a:fillRect/>
          </a:stretch>
        </p:blipFill>
        <p:spPr>
          <a:xfrm>
            <a:off x="2044964" y="4340108"/>
            <a:ext cx="134600" cy="134600"/>
          </a:xfrm>
          <a:prstGeom prst="rect">
            <a:avLst/>
          </a:prstGeom>
        </p:spPr>
      </p:pic>
      <p:sp>
        <p:nvSpPr>
          <p:cNvPr id="25" name="Text 18"/>
          <p:cNvSpPr txBox="1"/>
          <p:nvPr/>
        </p:nvSpPr>
        <p:spPr>
          <a:xfrm>
            <a:off x="2423160" y="4224528"/>
            <a:ext cx="7680960" cy="365760"/>
          </a:xfrm>
          <a:prstGeom prst="rect">
            <a:avLst/>
          </a:prstGeom>
          <a:noFill/>
          <a:ln/>
        </p:spPr>
        <p:txBody>
          <a:bodyPr wrap="square" lIns="0" tIns="0" rIns="0" bIns="0" rtlCol="0" anchor="ctr"/>
          <a:lstStyle/>
          <a:p>
            <a:pPr indent="0" marL="0">
              <a:buNone/>
            </a:pPr>
            <a:r>
              <a:rPr lang="en-US" sz="1600" b="1" dirty="0">
                <a:solidFill>
                  <a:schemeClr val="tx1"/>
                </a:solidFill>
              </a:rPr>
              <a:t>Job suggestions often do not match the candidate's skills</a:t>
            </a:r>
            <a:endParaRPr lang="en-US" sz="1600" dirty="0"/>
          </a:p>
        </p:txBody>
      </p:sp>
      <p:sp>
        <p:nvSpPr>
          <p:cNvPr id="26" name="Shape 19"/>
          <p:cNvSpPr/>
          <p:nvPr/>
        </p:nvSpPr>
        <p:spPr>
          <a:xfrm>
            <a:off x="1965960" y="4754880"/>
            <a:ext cx="8257032" cy="640080"/>
          </a:xfrm>
          <a:prstGeom prst="roundRect">
            <a:avLst>
              <a:gd name="adj" fmla="val 17143"/>
            </a:avLst>
          </a:prstGeom>
          <a:solidFill>
            <a:schemeClr val="accent5"/>
          </a:solidFill>
          <a:ln w="12700">
            <a:solidFill>
              <a:schemeClr val="accent5"/>
            </a:solidFill>
            <a:prstDash val="solid"/>
          </a:ln>
        </p:spPr>
      </p:sp>
      <p:sp>
        <p:nvSpPr>
          <p:cNvPr id="27" name="Text 20"/>
          <p:cNvSpPr txBox="1"/>
          <p:nvPr/>
        </p:nvSpPr>
        <p:spPr>
          <a:xfrm>
            <a:off x="2148840" y="4754880"/>
            <a:ext cx="7891272" cy="640080"/>
          </a:xfrm>
          <a:prstGeom prst="rect">
            <a:avLst/>
          </a:prstGeom>
          <a:noFill/>
          <a:ln/>
        </p:spPr>
        <p:txBody>
          <a:bodyPr wrap="square" lIns="0" tIns="0" rIns="0" bIns="0" rtlCol="0" anchor="ctr"/>
          <a:lstStyle/>
          <a:p>
            <a:pPr indent="0" marL="0">
              <a:buNone/>
            </a:pPr>
            <a:r>
              <a:rPr lang="en-US" sz="1600" b="1" dirty="0">
                <a:solidFill>
                  <a:schemeClr val="accent2"/>
                </a:solidFill>
              </a:rPr>
              <a:t>In short: </a:t>
            </a:r>
            <a:pPr indent="0" marL="0">
              <a:buNone/>
            </a:pPr>
            <a:r>
              <a:rPr lang="en-US" sz="1600" dirty="0">
                <a:solidFill>
                  <a:schemeClr val="tx1"/>
                </a:solidFill>
              </a:rPr>
              <a:t>too much manual work makes hiring slow and less efficient.</a:t>
            </a:r>
            <a:endParaRPr lang="en-US" sz="1600" dirty="0"/>
          </a:p>
        </p:txBody>
      </p:sp>
      <p:pic>
        <p:nvPicPr>
          <p:cNvPr id="28" name="Image 5" descr="pile illustration">    </p:cNvPr>
          <p:cNvPicPr>
            <a:picLocks noChangeAspect="1"/>
          </p:cNvPicPr>
          <p:nvPr/>
        </p:nvPicPr>
        <p:blipFill>
          <a:blip r:embed="rId6"/>
          <a:stretch>
            <a:fillRect/>
          </a:stretch>
        </p:blipFill>
        <p:spPr>
          <a:xfrm>
            <a:off x="10012680" y="182880"/>
            <a:ext cx="1691640" cy="1592132"/>
          </a:xfrm>
          <a:prstGeom prst="rect">
            <a:avLst/>
          </a:prstGeom>
        </p:spPr>
      </p:pic>
      <p:pic>
        <p:nvPicPr>
          <p:cNvPr id="29" name="Image 6" descr="clipboard illustration">    </p:cNvPr>
          <p:cNvPicPr>
            <a:picLocks noChangeAspect="1"/>
          </p:cNvPicPr>
          <p:nvPr/>
        </p:nvPicPr>
        <p:blipFill>
          <a:blip r:embed="rId7"/>
          <a:stretch>
            <a:fillRect/>
          </a:stretch>
        </p:blipFill>
        <p:spPr>
          <a:xfrm>
            <a:off x="320040" y="4892040"/>
            <a:ext cx="1143000" cy="1406769"/>
          </a:xfrm>
          <a:prstGeom prst="rect">
            <a:avLst/>
          </a:prstGeom>
        </p:spPr>
      </p:pic>
      <p:pic>
        <p:nvPicPr>
          <p:cNvPr id="30" name="Image 7" descr="plant illustration">    </p:cNvPr>
          <p:cNvPicPr>
            <a:picLocks noChangeAspect="1"/>
          </p:cNvPicPr>
          <p:nvPr/>
        </p:nvPicPr>
        <p:blipFill>
          <a:blip r:embed="rId8"/>
          <a:stretch>
            <a:fillRect/>
          </a:stretch>
        </p:blipFill>
        <p:spPr>
          <a:xfrm>
            <a:off x="10881360" y="5257800"/>
            <a:ext cx="777240" cy="999309"/>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2468880" y="548640"/>
            <a:ext cx="7251192" cy="777240"/>
          </a:xfrm>
          <a:prstGeom prst="rect">
            <a:avLst/>
          </a:prstGeom>
          <a:noFill/>
          <a:ln/>
        </p:spPr>
        <p:txBody>
          <a:bodyPr wrap="square" lIns="0" tIns="0" rIns="0" bIns="0" rtlCol="0" anchor="ctr"/>
          <a:lstStyle/>
          <a:p>
            <a:pPr algn="ctr" indent="0" marL="0">
              <a:buNone/>
            </a:pPr>
            <a:r>
              <a:rPr lang="en-US" sz="3200" b="1" dirty="0">
                <a:solidFill>
                  <a:schemeClr val="tx1"/>
                </a:solidFill>
              </a:rPr>
              <a:t>PROBLEM</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600200" y="1600200"/>
            <a:ext cx="8988552" cy="3657600"/>
          </a:xfrm>
          <a:prstGeom prst="roundRect">
            <a:avLst>
              <a:gd name="adj" fmla="val 45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0" name="Text 8"/>
          <p:cNvSpPr txBox="1"/>
          <p:nvPr/>
        </p:nvSpPr>
        <p:spPr>
          <a:xfrm>
            <a:off x="2011680" y="1783080"/>
            <a:ext cx="8165592" cy="3291840"/>
          </a:xfrm>
          <a:prstGeom prst="rect">
            <a:avLst/>
          </a:prstGeom>
          <a:noFill/>
          <a:ln/>
        </p:spPr>
        <p:txBody>
          <a:bodyPr wrap="square" lIns="0" tIns="0" rIns="0" bIns="0" rtlCol="0" anchor="ctr"/>
          <a:lstStyle/>
          <a:p>
            <a:pPr indent="0" marL="0">
              <a:lnSpc>
                <a:spcPct val="125000"/>
              </a:lnSpc>
              <a:buNone/>
            </a:pPr>
            <a:r>
              <a:rPr lang="en-US" sz="1800" dirty="0">
                <a:solidFill>
                  <a:schemeClr val="tx2"/>
                </a:solidFill>
              </a:rPr>
              <a:t>Hiring today is slow for both sides. Candidates must scroll through many job posts to find one that fits. Recruiters must open and read every resume one by one. Because of this, good candidates get missed, people apply to the wrong jobs, and hiring gets delayed. So we need a system that can read resumes by itself, compare skills with job needs, and suggest the right jobs and the right candidates.</a:t>
            </a:r>
            <a:endParaRPr lang="en-US" sz="1800" dirty="0"/>
          </a:p>
        </p:txBody>
      </p:sp>
      <p:pic>
        <p:nvPicPr>
          <p:cNvPr id="11" name="Image 0" descr="search illustration">    </p:cNvPr>
          <p:cNvPicPr>
            <a:picLocks noChangeAspect="1"/>
          </p:cNvPicPr>
          <p:nvPr/>
        </p:nvPicPr>
        <p:blipFill>
          <a:blip r:embed="rId1"/>
          <a:stretch>
            <a:fillRect/>
          </a:stretch>
        </p:blipFill>
        <p:spPr>
          <a:xfrm>
            <a:off x="10058400" y="182880"/>
            <a:ext cx="1600200" cy="1600200"/>
          </a:xfrm>
          <a:prstGeom prst="rect">
            <a:avLst/>
          </a:prstGeom>
        </p:spPr>
      </p:pic>
      <p:pic>
        <p:nvPicPr>
          <p:cNvPr id="12" name="Image 1" descr="pile illustration">    </p:cNvPr>
          <p:cNvPicPr>
            <a:picLocks noChangeAspect="1"/>
          </p:cNvPicPr>
          <p:nvPr/>
        </p:nvPicPr>
        <p:blipFill>
          <a:blip r:embed="rId2"/>
          <a:stretch>
            <a:fillRect/>
          </a:stretch>
        </p:blipFill>
        <p:spPr>
          <a:xfrm>
            <a:off x="274320" y="4846320"/>
            <a:ext cx="1463040" cy="1376979"/>
          </a:xfrm>
          <a:prstGeom prst="rect">
            <a:avLst/>
          </a:prstGeom>
        </p:spPr>
      </p:pic>
      <p:pic>
        <p:nvPicPr>
          <p:cNvPr id="13" name="Image 2" descr="trio illustration">    </p:cNvPr>
          <p:cNvPicPr>
            <a:picLocks noChangeAspect="1"/>
          </p:cNvPicPr>
          <p:nvPr/>
        </p:nvPicPr>
        <p:blipFill>
          <a:blip r:embed="rId3"/>
          <a:stretch>
            <a:fillRect/>
          </a:stretch>
        </p:blipFill>
        <p:spPr>
          <a:xfrm>
            <a:off x="4434840" y="4846320"/>
            <a:ext cx="3319272" cy="1207008"/>
          </a:xfrm>
          <a:prstGeom prst="rect">
            <a:avLst/>
          </a:prstGeom>
        </p:spPr>
      </p:pic>
      <p:pic>
        <p:nvPicPr>
          <p:cNvPr id="14" name="Image 3" descr="briefcase illustration">    </p:cNvPr>
          <p:cNvPicPr>
            <a:picLocks noChangeAspect="1"/>
          </p:cNvPicPr>
          <p:nvPr/>
        </p:nvPicPr>
        <p:blipFill>
          <a:blip r:embed="rId4"/>
          <a:stretch>
            <a:fillRect/>
          </a:stretch>
        </p:blipFill>
        <p:spPr>
          <a:xfrm>
            <a:off x="10104120" y="4892040"/>
            <a:ext cx="1600200" cy="1411941"/>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2468880" y="548640"/>
            <a:ext cx="7251192" cy="777240"/>
          </a:xfrm>
          <a:prstGeom prst="rect">
            <a:avLst/>
          </a:prstGeom>
          <a:noFill/>
          <a:ln/>
        </p:spPr>
        <p:txBody>
          <a:bodyPr wrap="square" lIns="0" tIns="0" rIns="0" bIns="0" rtlCol="0" anchor="ctr"/>
          <a:lstStyle/>
          <a:p>
            <a:pPr algn="ctr" indent="0" marL="0">
              <a:buNone/>
            </a:pPr>
            <a:r>
              <a:rPr lang="en-US" sz="3200" b="1" dirty="0">
                <a:solidFill>
                  <a:schemeClr val="tx1"/>
                </a:solidFill>
              </a:rPr>
              <a:t>SOLUTION (Contribution)</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600200" y="1508760"/>
            <a:ext cx="8988552" cy="1874520"/>
          </a:xfrm>
          <a:prstGeom prst="roundRect">
            <a:avLst>
              <a:gd name="adj" fmla="val 878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0" name="Text 8"/>
          <p:cNvSpPr txBox="1"/>
          <p:nvPr/>
        </p:nvSpPr>
        <p:spPr>
          <a:xfrm>
            <a:off x="1965960" y="1600200"/>
            <a:ext cx="8257032" cy="1691640"/>
          </a:xfrm>
          <a:prstGeom prst="rect">
            <a:avLst/>
          </a:prstGeom>
          <a:noFill/>
          <a:ln/>
        </p:spPr>
        <p:txBody>
          <a:bodyPr wrap="square" lIns="0" tIns="0" rIns="0" bIns="0" rtlCol="0" anchor="ctr"/>
          <a:lstStyle/>
          <a:p>
            <a:pPr indent="0" marL="0">
              <a:lnSpc>
                <a:spcPct val="125000"/>
              </a:lnSpc>
              <a:buNone/>
            </a:pPr>
            <a:r>
              <a:rPr lang="en-US" sz="1600" dirty="0">
                <a:solidFill>
                  <a:schemeClr val="tx2"/>
                </a:solidFill>
              </a:rPr>
              <a:t>We built a smart job portal that does the matching work automatically. The system reads each resume, compares it with every job and shows the best matches, so candidates and recruiters save time and effort.</a:t>
            </a:r>
            <a:endParaRPr lang="en-US" sz="1600" dirty="0"/>
          </a:p>
        </p:txBody>
      </p:sp>
      <p:sp>
        <p:nvSpPr>
          <p:cNvPr id="11" name="Shape 9"/>
          <p:cNvSpPr/>
          <p:nvPr/>
        </p:nvSpPr>
        <p:spPr>
          <a:xfrm>
            <a:off x="1600200" y="3611880"/>
            <a:ext cx="2103120" cy="1600200"/>
          </a:xfrm>
          <a:prstGeom prst="roundRect">
            <a:avLst>
              <a:gd name="adj" fmla="val 10286"/>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2" name="Shape 10"/>
          <p:cNvSpPr/>
          <p:nvPr/>
        </p:nvSpPr>
        <p:spPr>
          <a:xfrm>
            <a:off x="1783080" y="3749040"/>
            <a:ext cx="502920" cy="502920"/>
          </a:xfrm>
          <a:prstGeom prst="ellipse">
            <a:avLst/>
          </a:prstGeom>
          <a:solidFill>
            <a:schemeClr val="accent1"/>
          </a:solidFill>
          <a:ln w="12700">
            <a:solidFill>
              <a:schemeClr val="accent1"/>
            </a:solidFill>
            <a:prstDash val="solid"/>
          </a:ln>
        </p:spPr>
      </p:sp>
      <p:pic>
        <p:nvPicPr>
          <p:cNvPr id="13" name="Image 0" descr="preencoded.png">    </p:cNvPr>
          <p:cNvPicPr>
            <a:picLocks noChangeAspect="1"/>
          </p:cNvPicPr>
          <p:nvPr/>
        </p:nvPicPr>
        <p:blipFill>
          <a:blip r:embed="rId1"/>
          <a:stretch>
            <a:fillRect/>
          </a:stretch>
        </p:blipFill>
        <p:spPr>
          <a:xfrm>
            <a:off x="1918868" y="3884828"/>
            <a:ext cx="231343" cy="231343"/>
          </a:xfrm>
          <a:prstGeom prst="rect">
            <a:avLst/>
          </a:prstGeom>
        </p:spPr>
      </p:pic>
      <p:sp>
        <p:nvSpPr>
          <p:cNvPr id="14" name="Text 11"/>
          <p:cNvSpPr txBox="1"/>
          <p:nvPr/>
        </p:nvSpPr>
        <p:spPr>
          <a:xfrm>
            <a:off x="2377440" y="3749040"/>
            <a:ext cx="1280160" cy="502920"/>
          </a:xfrm>
          <a:prstGeom prst="rect">
            <a:avLst/>
          </a:prstGeom>
          <a:noFill/>
          <a:ln/>
        </p:spPr>
        <p:txBody>
          <a:bodyPr wrap="square" lIns="0" tIns="0" rIns="0" bIns="0" rtlCol="0" anchor="ctr"/>
          <a:lstStyle/>
          <a:p>
            <a:pPr indent="0" marL="0">
              <a:buNone/>
            </a:pPr>
            <a:r>
              <a:rPr lang="en-US" sz="1400" b="1" dirty="0">
                <a:solidFill>
                  <a:schemeClr val="tx1"/>
                </a:solidFill>
              </a:rPr>
              <a:t>Upload Resume</a:t>
            </a:r>
            <a:endParaRPr lang="en-US" sz="1400" dirty="0"/>
          </a:p>
        </p:txBody>
      </p:sp>
      <p:sp>
        <p:nvSpPr>
          <p:cNvPr id="15" name="Text 12"/>
          <p:cNvSpPr txBox="1"/>
          <p:nvPr/>
        </p:nvSpPr>
        <p:spPr>
          <a:xfrm>
            <a:off x="1783080" y="4343400"/>
            <a:ext cx="1737360" cy="777240"/>
          </a:xfrm>
          <a:prstGeom prst="rect">
            <a:avLst/>
          </a:prstGeom>
          <a:noFill/>
          <a:ln/>
        </p:spPr>
        <p:txBody>
          <a:bodyPr wrap="square" lIns="0" tIns="0" rIns="0" bIns="0" rtlCol="0" anchor="t"/>
          <a:lstStyle/>
          <a:p>
            <a:pPr indent="0" marL="0">
              <a:buNone/>
            </a:pPr>
            <a:r>
              <a:rPr lang="en-US" sz="1400" dirty="0">
                <a:solidFill>
                  <a:schemeClr val="tx2"/>
                </a:solidFill>
              </a:rPr>
              <a:t>Candidate uploads a resume</a:t>
            </a:r>
            <a:endParaRPr lang="en-US" sz="1400" dirty="0"/>
          </a:p>
        </p:txBody>
      </p:sp>
      <p:sp>
        <p:nvSpPr>
          <p:cNvPr id="16" name="Text 13"/>
          <p:cNvSpPr txBox="1"/>
          <p:nvPr/>
        </p:nvSpPr>
        <p:spPr>
          <a:xfrm>
            <a:off x="3703320" y="4343400"/>
            <a:ext cx="192024" cy="365760"/>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17" name="Shape 14"/>
          <p:cNvSpPr/>
          <p:nvPr/>
        </p:nvSpPr>
        <p:spPr>
          <a:xfrm>
            <a:off x="3895344" y="3611880"/>
            <a:ext cx="2103120" cy="1600200"/>
          </a:xfrm>
          <a:prstGeom prst="roundRect">
            <a:avLst>
              <a:gd name="adj" fmla="val 10286"/>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8" name="Shape 15"/>
          <p:cNvSpPr/>
          <p:nvPr/>
        </p:nvSpPr>
        <p:spPr>
          <a:xfrm>
            <a:off x="4078224" y="3749040"/>
            <a:ext cx="502920" cy="502920"/>
          </a:xfrm>
          <a:prstGeom prst="ellipse">
            <a:avLst/>
          </a:prstGeom>
          <a:solidFill>
            <a:schemeClr val="accent2"/>
          </a:solidFill>
          <a:ln w="12700">
            <a:solidFill>
              <a:schemeClr val="accent2"/>
            </a:solidFill>
            <a:prstDash val="solid"/>
          </a:ln>
        </p:spPr>
      </p:sp>
      <p:pic>
        <p:nvPicPr>
          <p:cNvPr id="19" name="Image 1" descr="preencoded.png">    </p:cNvPr>
          <p:cNvPicPr>
            <a:picLocks noChangeAspect="1"/>
          </p:cNvPicPr>
          <p:nvPr/>
        </p:nvPicPr>
        <p:blipFill>
          <a:blip r:embed="rId2"/>
          <a:stretch>
            <a:fillRect/>
          </a:stretch>
        </p:blipFill>
        <p:spPr>
          <a:xfrm>
            <a:off x="4214012" y="3884828"/>
            <a:ext cx="231343" cy="231343"/>
          </a:xfrm>
          <a:prstGeom prst="rect">
            <a:avLst/>
          </a:prstGeom>
        </p:spPr>
      </p:pic>
      <p:sp>
        <p:nvSpPr>
          <p:cNvPr id="20" name="Text 16"/>
          <p:cNvSpPr txBox="1"/>
          <p:nvPr/>
        </p:nvSpPr>
        <p:spPr>
          <a:xfrm>
            <a:off x="4672584" y="3749040"/>
            <a:ext cx="1280160" cy="502920"/>
          </a:xfrm>
          <a:prstGeom prst="rect">
            <a:avLst/>
          </a:prstGeom>
          <a:noFill/>
          <a:ln/>
        </p:spPr>
        <p:txBody>
          <a:bodyPr wrap="square" lIns="0" tIns="0" rIns="0" bIns="0" rtlCol="0" anchor="ctr"/>
          <a:lstStyle/>
          <a:p>
            <a:pPr indent="0" marL="0">
              <a:buNone/>
            </a:pPr>
            <a:r>
              <a:rPr lang="en-US" sz="1400" b="1" dirty="0">
                <a:solidFill>
                  <a:schemeClr val="tx1"/>
                </a:solidFill>
              </a:rPr>
              <a:t>Read Resume</a:t>
            </a:r>
            <a:endParaRPr lang="en-US" sz="1400" dirty="0"/>
          </a:p>
        </p:txBody>
      </p:sp>
      <p:sp>
        <p:nvSpPr>
          <p:cNvPr id="21" name="Text 17"/>
          <p:cNvSpPr txBox="1"/>
          <p:nvPr/>
        </p:nvSpPr>
        <p:spPr>
          <a:xfrm>
            <a:off x="4078224" y="4343400"/>
            <a:ext cx="1737360" cy="777240"/>
          </a:xfrm>
          <a:prstGeom prst="rect">
            <a:avLst/>
          </a:prstGeom>
          <a:noFill/>
          <a:ln/>
        </p:spPr>
        <p:txBody>
          <a:bodyPr wrap="square" lIns="0" tIns="0" rIns="0" bIns="0" rtlCol="0" anchor="t"/>
          <a:lstStyle/>
          <a:p>
            <a:pPr indent="0" marL="0">
              <a:buNone/>
            </a:pPr>
            <a:r>
              <a:rPr lang="en-US" sz="1400" dirty="0">
                <a:solidFill>
                  <a:schemeClr val="tx2"/>
                </a:solidFill>
              </a:rPr>
              <a:t>System picks out skills, education and experience</a:t>
            </a:r>
            <a:endParaRPr lang="en-US" sz="1400" dirty="0"/>
          </a:p>
        </p:txBody>
      </p:sp>
      <p:sp>
        <p:nvSpPr>
          <p:cNvPr id="22" name="Text 18"/>
          <p:cNvSpPr txBox="1"/>
          <p:nvPr/>
        </p:nvSpPr>
        <p:spPr>
          <a:xfrm>
            <a:off x="5998464" y="4343400"/>
            <a:ext cx="192024" cy="365760"/>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23" name="Shape 19"/>
          <p:cNvSpPr/>
          <p:nvPr/>
        </p:nvSpPr>
        <p:spPr>
          <a:xfrm>
            <a:off x="6190488" y="3611880"/>
            <a:ext cx="2103120" cy="1600200"/>
          </a:xfrm>
          <a:prstGeom prst="roundRect">
            <a:avLst>
              <a:gd name="adj" fmla="val 10286"/>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24" name="Shape 20"/>
          <p:cNvSpPr/>
          <p:nvPr/>
        </p:nvSpPr>
        <p:spPr>
          <a:xfrm>
            <a:off x="6373368" y="3749040"/>
            <a:ext cx="502920" cy="502920"/>
          </a:xfrm>
          <a:prstGeom prst="ellipse">
            <a:avLst/>
          </a:prstGeom>
          <a:solidFill>
            <a:schemeClr val="accent1"/>
          </a:solidFill>
          <a:ln w="12700">
            <a:solidFill>
              <a:schemeClr val="accent1"/>
            </a:solidFill>
            <a:prstDash val="solid"/>
          </a:ln>
        </p:spPr>
      </p:sp>
      <p:pic>
        <p:nvPicPr>
          <p:cNvPr id="25" name="Image 2" descr="preencoded.png">    </p:cNvPr>
          <p:cNvPicPr>
            <a:picLocks noChangeAspect="1"/>
          </p:cNvPicPr>
          <p:nvPr/>
        </p:nvPicPr>
        <p:blipFill>
          <a:blip r:embed="rId3"/>
          <a:stretch>
            <a:fillRect/>
          </a:stretch>
        </p:blipFill>
        <p:spPr>
          <a:xfrm>
            <a:off x="6509156" y="3884828"/>
            <a:ext cx="231343" cy="231343"/>
          </a:xfrm>
          <a:prstGeom prst="rect">
            <a:avLst/>
          </a:prstGeom>
        </p:spPr>
      </p:pic>
      <p:sp>
        <p:nvSpPr>
          <p:cNvPr id="26" name="Text 21"/>
          <p:cNvSpPr txBox="1"/>
          <p:nvPr/>
        </p:nvSpPr>
        <p:spPr>
          <a:xfrm>
            <a:off x="6967728" y="3749040"/>
            <a:ext cx="1280160" cy="502920"/>
          </a:xfrm>
          <a:prstGeom prst="rect">
            <a:avLst/>
          </a:prstGeom>
          <a:noFill/>
          <a:ln/>
        </p:spPr>
        <p:txBody>
          <a:bodyPr wrap="square" lIns="0" tIns="0" rIns="0" bIns="0" rtlCol="0" anchor="ctr"/>
          <a:lstStyle/>
          <a:p>
            <a:pPr indent="0" marL="0">
              <a:buNone/>
            </a:pPr>
            <a:r>
              <a:rPr lang="en-US" sz="1400" b="1" dirty="0">
                <a:solidFill>
                  <a:schemeClr val="tx1"/>
                </a:solidFill>
              </a:rPr>
              <a:t>Match Score</a:t>
            </a:r>
            <a:endParaRPr lang="en-US" sz="1400" dirty="0"/>
          </a:p>
        </p:txBody>
      </p:sp>
      <p:sp>
        <p:nvSpPr>
          <p:cNvPr id="27" name="Text 22"/>
          <p:cNvSpPr txBox="1"/>
          <p:nvPr/>
        </p:nvSpPr>
        <p:spPr>
          <a:xfrm>
            <a:off x="6373368" y="4343400"/>
            <a:ext cx="1737360" cy="777240"/>
          </a:xfrm>
          <a:prstGeom prst="rect">
            <a:avLst/>
          </a:prstGeom>
          <a:noFill/>
          <a:ln/>
        </p:spPr>
        <p:txBody>
          <a:bodyPr wrap="square" lIns="0" tIns="0" rIns="0" bIns="0" rtlCol="0" anchor="t"/>
          <a:lstStyle/>
          <a:p>
            <a:pPr indent="0" marL="0">
              <a:buNone/>
            </a:pPr>
            <a:r>
              <a:rPr lang="en-US" sz="1400" dirty="0">
                <a:solidFill>
                  <a:schemeClr val="tx2"/>
                </a:solidFill>
              </a:rPr>
              <a:t>Details are compared with job needs</a:t>
            </a:r>
            <a:endParaRPr lang="en-US" sz="1400" dirty="0"/>
          </a:p>
        </p:txBody>
      </p:sp>
      <p:sp>
        <p:nvSpPr>
          <p:cNvPr id="28" name="Text 23"/>
          <p:cNvSpPr txBox="1"/>
          <p:nvPr/>
        </p:nvSpPr>
        <p:spPr>
          <a:xfrm>
            <a:off x="8293608" y="4343400"/>
            <a:ext cx="192024" cy="365760"/>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29" name="Shape 24"/>
          <p:cNvSpPr/>
          <p:nvPr/>
        </p:nvSpPr>
        <p:spPr>
          <a:xfrm>
            <a:off x="8485632" y="3611880"/>
            <a:ext cx="2103120" cy="1600200"/>
          </a:xfrm>
          <a:prstGeom prst="roundRect">
            <a:avLst>
              <a:gd name="adj" fmla="val 10286"/>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30" name="Shape 25"/>
          <p:cNvSpPr/>
          <p:nvPr/>
        </p:nvSpPr>
        <p:spPr>
          <a:xfrm>
            <a:off x="8668512" y="3749040"/>
            <a:ext cx="502920" cy="502920"/>
          </a:xfrm>
          <a:prstGeom prst="ellipse">
            <a:avLst/>
          </a:prstGeom>
          <a:solidFill>
            <a:schemeClr val="accent2"/>
          </a:solidFill>
          <a:ln w="12700">
            <a:solidFill>
              <a:schemeClr val="accent2"/>
            </a:solidFill>
            <a:prstDash val="solid"/>
          </a:ln>
        </p:spPr>
      </p:sp>
      <p:pic>
        <p:nvPicPr>
          <p:cNvPr id="31" name="Image 3" descr="preencoded.png">    </p:cNvPr>
          <p:cNvPicPr>
            <a:picLocks noChangeAspect="1"/>
          </p:cNvPicPr>
          <p:nvPr/>
        </p:nvPicPr>
        <p:blipFill>
          <a:blip r:embed="rId4"/>
          <a:stretch>
            <a:fillRect/>
          </a:stretch>
        </p:blipFill>
        <p:spPr>
          <a:xfrm>
            <a:off x="8804300" y="3884828"/>
            <a:ext cx="231343" cy="231343"/>
          </a:xfrm>
          <a:prstGeom prst="rect">
            <a:avLst/>
          </a:prstGeom>
        </p:spPr>
      </p:pic>
      <p:sp>
        <p:nvSpPr>
          <p:cNvPr id="32" name="Text 26"/>
          <p:cNvSpPr txBox="1"/>
          <p:nvPr/>
        </p:nvSpPr>
        <p:spPr>
          <a:xfrm>
            <a:off x="9262872" y="3749040"/>
            <a:ext cx="1280160" cy="502920"/>
          </a:xfrm>
          <a:prstGeom prst="rect">
            <a:avLst/>
          </a:prstGeom>
          <a:noFill/>
          <a:ln/>
        </p:spPr>
        <p:txBody>
          <a:bodyPr wrap="square" lIns="0" tIns="0" rIns="0" bIns="0" rtlCol="0" anchor="ctr"/>
          <a:lstStyle/>
          <a:p>
            <a:pPr indent="0" marL="0">
              <a:buNone/>
            </a:pPr>
            <a:r>
              <a:rPr lang="en-US" sz="1400" b="1" dirty="0">
                <a:solidFill>
                  <a:schemeClr val="tx1"/>
                </a:solidFill>
              </a:rPr>
              <a:t>Recommend</a:t>
            </a:r>
            <a:endParaRPr lang="en-US" sz="1400" dirty="0"/>
          </a:p>
        </p:txBody>
      </p:sp>
      <p:sp>
        <p:nvSpPr>
          <p:cNvPr id="33" name="Text 27"/>
          <p:cNvSpPr txBox="1"/>
          <p:nvPr/>
        </p:nvSpPr>
        <p:spPr>
          <a:xfrm>
            <a:off x="8668512" y="4343400"/>
            <a:ext cx="1737360" cy="777240"/>
          </a:xfrm>
          <a:prstGeom prst="rect">
            <a:avLst/>
          </a:prstGeom>
          <a:noFill/>
          <a:ln/>
        </p:spPr>
        <p:txBody>
          <a:bodyPr wrap="square" lIns="0" tIns="0" rIns="0" bIns="0" rtlCol="0" anchor="t"/>
          <a:lstStyle/>
          <a:p>
            <a:pPr indent="0" marL="0">
              <a:buNone/>
            </a:pPr>
            <a:r>
              <a:rPr lang="en-US" sz="1400" dirty="0">
                <a:solidFill>
                  <a:schemeClr val="tx2"/>
                </a:solidFill>
              </a:rPr>
              <a:t>Best jobs and best candidates are shown</a:t>
            </a:r>
            <a:endParaRPr lang="en-US" sz="1400" dirty="0"/>
          </a:p>
        </p:txBody>
      </p:sp>
      <p:pic>
        <p:nvPicPr>
          <p:cNvPr id="34" name="Image 4" descr="score illustration">    </p:cNvPr>
          <p:cNvPicPr>
            <a:picLocks noChangeAspect="1"/>
          </p:cNvPicPr>
          <p:nvPr/>
        </p:nvPicPr>
        <p:blipFill>
          <a:blip r:embed="rId5"/>
          <a:stretch>
            <a:fillRect/>
          </a:stretch>
        </p:blipFill>
        <p:spPr>
          <a:xfrm>
            <a:off x="10195560" y="182880"/>
            <a:ext cx="1417320" cy="1417320"/>
          </a:xfrm>
          <a:prstGeom prst="rect">
            <a:avLst/>
          </a:prstGeom>
        </p:spPr>
      </p:pic>
      <p:pic>
        <p:nvPicPr>
          <p:cNvPr id="35" name="Image 5" descr="laptop illustration">    </p:cNvPr>
          <p:cNvPicPr>
            <a:picLocks noChangeAspect="1"/>
          </p:cNvPicPr>
          <p:nvPr/>
        </p:nvPicPr>
        <p:blipFill>
          <a:blip r:embed="rId6"/>
          <a:stretch>
            <a:fillRect/>
          </a:stretch>
        </p:blipFill>
        <p:spPr>
          <a:xfrm>
            <a:off x="137160" y="5257800"/>
            <a:ext cx="1600200" cy="1024128"/>
          </a:xfrm>
          <a:prstGeom prst="rect">
            <a:avLst/>
          </a:prstGeom>
        </p:spPr>
      </p:pic>
      <p:pic>
        <p:nvPicPr>
          <p:cNvPr id="36" name="Image 6" descr="rocket illustration">    </p:cNvPr>
          <p:cNvPicPr>
            <a:picLocks noChangeAspect="1"/>
          </p:cNvPicPr>
          <p:nvPr/>
        </p:nvPicPr>
        <p:blipFill>
          <a:blip r:embed="rId7"/>
          <a:stretch>
            <a:fillRect/>
          </a:stretch>
        </p:blipFill>
        <p:spPr>
          <a:xfrm>
            <a:off x="10607040" y="5166360"/>
            <a:ext cx="1005840" cy="1139952"/>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2468880" y="548640"/>
            <a:ext cx="7251192" cy="777240"/>
          </a:xfrm>
          <a:prstGeom prst="rect">
            <a:avLst/>
          </a:prstGeom>
          <a:noFill/>
          <a:ln/>
        </p:spPr>
        <p:txBody>
          <a:bodyPr wrap="square" lIns="0" tIns="0" rIns="0" bIns="0" rtlCol="0" anchor="ctr"/>
          <a:lstStyle/>
          <a:p>
            <a:pPr algn="ctr" indent="0" marL="0">
              <a:buNone/>
            </a:pPr>
            <a:r>
              <a:rPr lang="en-US" sz="3200" b="1" dirty="0">
                <a:solidFill>
                  <a:schemeClr val="tx1"/>
                </a:solidFill>
              </a:rPr>
              <a:t>OBJECTIVES</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828800" y="1600200"/>
            <a:ext cx="2697480" cy="1828800"/>
          </a:xfrm>
          <a:prstGeom prst="roundRect">
            <a:avLst>
              <a:gd name="adj" fmla="val 90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0" name="Shape 8"/>
          <p:cNvSpPr/>
          <p:nvPr/>
        </p:nvSpPr>
        <p:spPr>
          <a:xfrm>
            <a:off x="2029968" y="1801368"/>
            <a:ext cx="548640" cy="548640"/>
          </a:xfrm>
          <a:prstGeom prst="ellipse">
            <a:avLst/>
          </a:prstGeom>
          <a:solidFill>
            <a:schemeClr val="accent1"/>
          </a:solidFill>
          <a:ln w="12700">
            <a:solidFill>
              <a:schemeClr val="accent1"/>
            </a:solidFill>
            <a:prstDash val="solid"/>
          </a:ln>
        </p:spPr>
      </p:sp>
      <p:pic>
        <p:nvPicPr>
          <p:cNvPr id="11" name="Image 0" descr="preencoded.png">    </p:cNvPr>
          <p:cNvPicPr>
            <a:picLocks noChangeAspect="1"/>
          </p:cNvPicPr>
          <p:nvPr/>
        </p:nvPicPr>
        <p:blipFill>
          <a:blip r:embed="rId1"/>
          <a:stretch>
            <a:fillRect/>
          </a:stretch>
        </p:blipFill>
        <p:spPr>
          <a:xfrm>
            <a:off x="2178101" y="1949501"/>
            <a:ext cx="252374" cy="252374"/>
          </a:xfrm>
          <a:prstGeom prst="rect">
            <a:avLst/>
          </a:prstGeom>
        </p:spPr>
      </p:pic>
      <p:sp>
        <p:nvSpPr>
          <p:cNvPr id="12" name="Text 9"/>
          <p:cNvSpPr txBox="1"/>
          <p:nvPr/>
        </p:nvSpPr>
        <p:spPr>
          <a:xfrm>
            <a:off x="2029968" y="2468880"/>
            <a:ext cx="2295144" cy="841248"/>
          </a:xfrm>
          <a:prstGeom prst="rect">
            <a:avLst/>
          </a:prstGeom>
          <a:noFill/>
          <a:ln/>
        </p:spPr>
        <p:txBody>
          <a:bodyPr wrap="square" lIns="0" tIns="0" rIns="0" bIns="0" rtlCol="0" anchor="t"/>
          <a:lstStyle/>
          <a:p>
            <a:pPr indent="0" marL="0">
              <a:buNone/>
            </a:pPr>
            <a:r>
              <a:rPr lang="en-US" sz="1500" b="1" dirty="0">
                <a:solidFill>
                  <a:schemeClr val="tx1"/>
                </a:solidFill>
              </a:rPr>
              <a:t>To read resumes automatically and pick out the key details.</a:t>
            </a:r>
            <a:endParaRPr lang="en-US" sz="1500" dirty="0"/>
          </a:p>
        </p:txBody>
      </p:sp>
      <p:sp>
        <p:nvSpPr>
          <p:cNvPr id="13" name="Shape 10"/>
          <p:cNvSpPr/>
          <p:nvPr/>
        </p:nvSpPr>
        <p:spPr>
          <a:xfrm>
            <a:off x="4745736" y="1600200"/>
            <a:ext cx="2697480" cy="1828800"/>
          </a:xfrm>
          <a:prstGeom prst="roundRect">
            <a:avLst>
              <a:gd name="adj" fmla="val 90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4" name="Shape 11"/>
          <p:cNvSpPr/>
          <p:nvPr/>
        </p:nvSpPr>
        <p:spPr>
          <a:xfrm>
            <a:off x="4946904" y="1801368"/>
            <a:ext cx="548640" cy="548640"/>
          </a:xfrm>
          <a:prstGeom prst="ellipse">
            <a:avLst/>
          </a:prstGeom>
          <a:solidFill>
            <a:schemeClr val="accent2"/>
          </a:solidFill>
          <a:ln w="12700">
            <a:solidFill>
              <a:schemeClr val="accent2"/>
            </a:solidFill>
            <a:prstDash val="solid"/>
          </a:ln>
        </p:spPr>
      </p:sp>
      <p:pic>
        <p:nvPicPr>
          <p:cNvPr id="15" name="Image 1" descr="preencoded.png">    </p:cNvPr>
          <p:cNvPicPr>
            <a:picLocks noChangeAspect="1"/>
          </p:cNvPicPr>
          <p:nvPr/>
        </p:nvPicPr>
        <p:blipFill>
          <a:blip r:embed="rId2"/>
          <a:stretch>
            <a:fillRect/>
          </a:stretch>
        </p:blipFill>
        <p:spPr>
          <a:xfrm>
            <a:off x="5095037" y="1949501"/>
            <a:ext cx="252374" cy="252374"/>
          </a:xfrm>
          <a:prstGeom prst="rect">
            <a:avLst/>
          </a:prstGeom>
        </p:spPr>
      </p:pic>
      <p:sp>
        <p:nvSpPr>
          <p:cNvPr id="16" name="Text 12"/>
          <p:cNvSpPr txBox="1"/>
          <p:nvPr/>
        </p:nvSpPr>
        <p:spPr>
          <a:xfrm>
            <a:off x="4946904" y="2468880"/>
            <a:ext cx="2295144" cy="841248"/>
          </a:xfrm>
          <a:prstGeom prst="rect">
            <a:avLst/>
          </a:prstGeom>
          <a:noFill/>
          <a:ln/>
        </p:spPr>
        <p:txBody>
          <a:bodyPr wrap="square" lIns="0" tIns="0" rIns="0" bIns="0" rtlCol="0" anchor="t"/>
          <a:lstStyle/>
          <a:p>
            <a:pPr indent="0" marL="0">
              <a:buNone/>
            </a:pPr>
            <a:r>
              <a:rPr lang="en-US" sz="1500" b="1" dirty="0">
                <a:solidFill>
                  <a:schemeClr val="tx1"/>
                </a:solidFill>
              </a:rPr>
              <a:t>To match candidates with jobs using skills, education and experience.</a:t>
            </a:r>
            <a:endParaRPr lang="en-US" sz="1500" dirty="0"/>
          </a:p>
        </p:txBody>
      </p:sp>
      <p:sp>
        <p:nvSpPr>
          <p:cNvPr id="17" name="Shape 13"/>
          <p:cNvSpPr/>
          <p:nvPr/>
        </p:nvSpPr>
        <p:spPr>
          <a:xfrm>
            <a:off x="7662672" y="1600200"/>
            <a:ext cx="2697480" cy="1828800"/>
          </a:xfrm>
          <a:prstGeom prst="roundRect">
            <a:avLst>
              <a:gd name="adj" fmla="val 90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8" name="Shape 14"/>
          <p:cNvSpPr/>
          <p:nvPr/>
        </p:nvSpPr>
        <p:spPr>
          <a:xfrm>
            <a:off x="7863840" y="1801368"/>
            <a:ext cx="548640" cy="548640"/>
          </a:xfrm>
          <a:prstGeom prst="ellipse">
            <a:avLst/>
          </a:prstGeom>
          <a:solidFill>
            <a:schemeClr val="accent1"/>
          </a:solidFill>
          <a:ln w="12700">
            <a:solidFill>
              <a:schemeClr val="accent1"/>
            </a:solidFill>
            <a:prstDash val="solid"/>
          </a:ln>
        </p:spPr>
      </p:sp>
      <p:pic>
        <p:nvPicPr>
          <p:cNvPr id="19" name="Image 2" descr="preencoded.png">    </p:cNvPr>
          <p:cNvPicPr>
            <a:picLocks noChangeAspect="1"/>
          </p:cNvPicPr>
          <p:nvPr/>
        </p:nvPicPr>
        <p:blipFill>
          <a:blip r:embed="rId3"/>
          <a:stretch>
            <a:fillRect/>
          </a:stretch>
        </p:blipFill>
        <p:spPr>
          <a:xfrm>
            <a:off x="8011973" y="1949501"/>
            <a:ext cx="252374" cy="252374"/>
          </a:xfrm>
          <a:prstGeom prst="rect">
            <a:avLst/>
          </a:prstGeom>
        </p:spPr>
      </p:pic>
      <p:sp>
        <p:nvSpPr>
          <p:cNvPr id="20" name="Text 15"/>
          <p:cNvSpPr txBox="1"/>
          <p:nvPr/>
        </p:nvSpPr>
        <p:spPr>
          <a:xfrm>
            <a:off x="7863840" y="2468880"/>
            <a:ext cx="2295144" cy="841248"/>
          </a:xfrm>
          <a:prstGeom prst="rect">
            <a:avLst/>
          </a:prstGeom>
          <a:noFill/>
          <a:ln/>
        </p:spPr>
        <p:txBody>
          <a:bodyPr wrap="square" lIns="0" tIns="0" rIns="0" bIns="0" rtlCol="0" anchor="t"/>
          <a:lstStyle/>
          <a:p>
            <a:pPr indent="0" marL="0">
              <a:buNone/>
            </a:pPr>
            <a:r>
              <a:rPr lang="en-US" sz="1500" b="1" dirty="0">
                <a:solidFill>
                  <a:schemeClr val="tx1"/>
                </a:solidFill>
              </a:rPr>
              <a:t>To give a match score for better job suggestions.</a:t>
            </a:r>
            <a:endParaRPr lang="en-US" sz="1500" dirty="0"/>
          </a:p>
        </p:txBody>
      </p:sp>
      <p:sp>
        <p:nvSpPr>
          <p:cNvPr id="21" name="Shape 16"/>
          <p:cNvSpPr/>
          <p:nvPr/>
        </p:nvSpPr>
        <p:spPr>
          <a:xfrm>
            <a:off x="1828800" y="3657600"/>
            <a:ext cx="2697480" cy="1828800"/>
          </a:xfrm>
          <a:prstGeom prst="roundRect">
            <a:avLst>
              <a:gd name="adj" fmla="val 90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22" name="Shape 17"/>
          <p:cNvSpPr/>
          <p:nvPr/>
        </p:nvSpPr>
        <p:spPr>
          <a:xfrm>
            <a:off x="2029968" y="3858768"/>
            <a:ext cx="548640" cy="548640"/>
          </a:xfrm>
          <a:prstGeom prst="ellipse">
            <a:avLst/>
          </a:prstGeom>
          <a:solidFill>
            <a:schemeClr val="accent2"/>
          </a:solidFill>
          <a:ln w="12700">
            <a:solidFill>
              <a:schemeClr val="accent2"/>
            </a:solidFill>
            <a:prstDash val="solid"/>
          </a:ln>
        </p:spPr>
      </p:sp>
      <p:pic>
        <p:nvPicPr>
          <p:cNvPr id="23" name="Image 3" descr="preencoded.png">    </p:cNvPr>
          <p:cNvPicPr>
            <a:picLocks noChangeAspect="1"/>
          </p:cNvPicPr>
          <p:nvPr/>
        </p:nvPicPr>
        <p:blipFill>
          <a:blip r:embed="rId4"/>
          <a:stretch>
            <a:fillRect/>
          </a:stretch>
        </p:blipFill>
        <p:spPr>
          <a:xfrm>
            <a:off x="2178101" y="4006901"/>
            <a:ext cx="252374" cy="252374"/>
          </a:xfrm>
          <a:prstGeom prst="rect">
            <a:avLst/>
          </a:prstGeom>
        </p:spPr>
      </p:pic>
      <p:sp>
        <p:nvSpPr>
          <p:cNvPr id="24" name="Text 18"/>
          <p:cNvSpPr txBox="1"/>
          <p:nvPr/>
        </p:nvSpPr>
        <p:spPr>
          <a:xfrm>
            <a:off x="2029968" y="4526280"/>
            <a:ext cx="2295144" cy="841248"/>
          </a:xfrm>
          <a:prstGeom prst="rect">
            <a:avLst/>
          </a:prstGeom>
          <a:noFill/>
          <a:ln/>
        </p:spPr>
        <p:txBody>
          <a:bodyPr wrap="square" lIns="0" tIns="0" rIns="0" bIns="0" rtlCol="0" anchor="t"/>
          <a:lstStyle/>
          <a:p>
            <a:pPr indent="0" marL="0">
              <a:buNone/>
            </a:pPr>
            <a:r>
              <a:rPr lang="en-US" sz="1500" b="1" dirty="0">
                <a:solidFill>
                  <a:schemeClr val="tx1"/>
                </a:solidFill>
              </a:rPr>
              <a:t>To help recruiters find the right candidates quickly.</a:t>
            </a:r>
            <a:endParaRPr lang="en-US" sz="1500" dirty="0"/>
          </a:p>
        </p:txBody>
      </p:sp>
      <p:sp>
        <p:nvSpPr>
          <p:cNvPr id="25" name="Shape 19"/>
          <p:cNvSpPr/>
          <p:nvPr/>
        </p:nvSpPr>
        <p:spPr>
          <a:xfrm>
            <a:off x="4745736" y="3657600"/>
            <a:ext cx="2697480" cy="1828800"/>
          </a:xfrm>
          <a:prstGeom prst="roundRect">
            <a:avLst>
              <a:gd name="adj" fmla="val 90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26" name="Shape 20"/>
          <p:cNvSpPr/>
          <p:nvPr/>
        </p:nvSpPr>
        <p:spPr>
          <a:xfrm>
            <a:off x="4946904" y="3858768"/>
            <a:ext cx="548640" cy="548640"/>
          </a:xfrm>
          <a:prstGeom prst="ellipse">
            <a:avLst/>
          </a:prstGeom>
          <a:solidFill>
            <a:schemeClr val="accent1"/>
          </a:solidFill>
          <a:ln w="12700">
            <a:solidFill>
              <a:schemeClr val="accent1"/>
            </a:solidFill>
            <a:prstDash val="solid"/>
          </a:ln>
        </p:spPr>
      </p:sp>
      <p:pic>
        <p:nvPicPr>
          <p:cNvPr id="27" name="Image 4" descr="preencoded.png">    </p:cNvPr>
          <p:cNvPicPr>
            <a:picLocks noChangeAspect="1"/>
          </p:cNvPicPr>
          <p:nvPr/>
        </p:nvPicPr>
        <p:blipFill>
          <a:blip r:embed="rId5"/>
          <a:stretch>
            <a:fillRect/>
          </a:stretch>
        </p:blipFill>
        <p:spPr>
          <a:xfrm>
            <a:off x="5095037" y="4006901"/>
            <a:ext cx="252374" cy="252374"/>
          </a:xfrm>
          <a:prstGeom prst="rect">
            <a:avLst/>
          </a:prstGeom>
        </p:spPr>
      </p:pic>
      <p:sp>
        <p:nvSpPr>
          <p:cNvPr id="28" name="Text 21"/>
          <p:cNvSpPr txBox="1"/>
          <p:nvPr/>
        </p:nvSpPr>
        <p:spPr>
          <a:xfrm>
            <a:off x="4946904" y="4526280"/>
            <a:ext cx="2295144" cy="841248"/>
          </a:xfrm>
          <a:prstGeom prst="rect">
            <a:avLst/>
          </a:prstGeom>
          <a:noFill/>
          <a:ln/>
        </p:spPr>
        <p:txBody>
          <a:bodyPr wrap="square" lIns="0" tIns="0" rIns="0" bIns="0" rtlCol="0" anchor="t"/>
          <a:lstStyle/>
          <a:p>
            <a:pPr indent="0" marL="0">
              <a:buNone/>
            </a:pPr>
            <a:r>
              <a:rPr lang="en-US" sz="1500" b="1" dirty="0">
                <a:solidFill>
                  <a:schemeClr val="tx1"/>
                </a:solidFill>
              </a:rPr>
              <a:t>To reduce manual work and save time in hiring.</a:t>
            </a:r>
            <a:endParaRPr lang="en-US" sz="1500" dirty="0"/>
          </a:p>
        </p:txBody>
      </p:sp>
      <p:sp>
        <p:nvSpPr>
          <p:cNvPr id="29" name="Shape 22"/>
          <p:cNvSpPr/>
          <p:nvPr/>
        </p:nvSpPr>
        <p:spPr>
          <a:xfrm>
            <a:off x="7662672" y="3657600"/>
            <a:ext cx="2697480" cy="1828800"/>
          </a:xfrm>
          <a:prstGeom prst="roundRect">
            <a:avLst>
              <a:gd name="adj" fmla="val 90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30" name="Shape 23"/>
          <p:cNvSpPr/>
          <p:nvPr/>
        </p:nvSpPr>
        <p:spPr>
          <a:xfrm>
            <a:off x="7863840" y="3858768"/>
            <a:ext cx="548640" cy="548640"/>
          </a:xfrm>
          <a:prstGeom prst="ellipse">
            <a:avLst/>
          </a:prstGeom>
          <a:solidFill>
            <a:schemeClr val="accent2"/>
          </a:solidFill>
          <a:ln w="12700">
            <a:solidFill>
              <a:schemeClr val="accent2"/>
            </a:solidFill>
            <a:prstDash val="solid"/>
          </a:ln>
        </p:spPr>
      </p:sp>
      <p:pic>
        <p:nvPicPr>
          <p:cNvPr id="31" name="Image 5" descr="preencoded.png">    </p:cNvPr>
          <p:cNvPicPr>
            <a:picLocks noChangeAspect="1"/>
          </p:cNvPicPr>
          <p:nvPr/>
        </p:nvPicPr>
        <p:blipFill>
          <a:blip r:embed="rId6"/>
          <a:stretch>
            <a:fillRect/>
          </a:stretch>
        </p:blipFill>
        <p:spPr>
          <a:xfrm>
            <a:off x="8011973" y="4006901"/>
            <a:ext cx="252374" cy="252374"/>
          </a:xfrm>
          <a:prstGeom prst="rect">
            <a:avLst/>
          </a:prstGeom>
        </p:spPr>
      </p:pic>
      <p:sp>
        <p:nvSpPr>
          <p:cNvPr id="32" name="Text 24"/>
          <p:cNvSpPr txBox="1"/>
          <p:nvPr/>
        </p:nvSpPr>
        <p:spPr>
          <a:xfrm>
            <a:off x="7863840" y="4526280"/>
            <a:ext cx="2295144" cy="841248"/>
          </a:xfrm>
          <a:prstGeom prst="rect">
            <a:avLst/>
          </a:prstGeom>
          <a:noFill/>
          <a:ln/>
        </p:spPr>
        <p:txBody>
          <a:bodyPr wrap="square" lIns="0" tIns="0" rIns="0" bIns="0" rtlCol="0" anchor="t"/>
          <a:lstStyle/>
          <a:p>
            <a:pPr indent="0" marL="0">
              <a:buNone/>
            </a:pPr>
            <a:r>
              <a:rPr lang="en-US" sz="1500" b="1" dirty="0">
                <a:solidFill>
                  <a:schemeClr val="tx1"/>
                </a:solidFill>
              </a:rPr>
              <a:t>To make job matching more accurate and efficient.</a:t>
            </a:r>
            <a:endParaRPr lang="en-US" sz="1500" dirty="0"/>
          </a:p>
        </p:txBody>
      </p:sp>
      <p:pic>
        <p:nvPicPr>
          <p:cNvPr id="33" name="Image 6" descr="person illustration">    </p:cNvPr>
          <p:cNvPicPr>
            <a:picLocks noChangeAspect="1"/>
          </p:cNvPicPr>
          <p:nvPr/>
        </p:nvPicPr>
        <p:blipFill>
          <a:blip r:embed="rId7"/>
          <a:stretch>
            <a:fillRect/>
          </a:stretch>
        </p:blipFill>
        <p:spPr>
          <a:xfrm>
            <a:off x="10195560" y="182880"/>
            <a:ext cx="1463040" cy="1560576"/>
          </a:xfrm>
          <a:prstGeom prst="rect">
            <a:avLst/>
          </a:prstGeom>
        </p:spPr>
      </p:pic>
      <p:pic>
        <p:nvPicPr>
          <p:cNvPr id="34" name="Image 7" descr="score illustration">    </p:cNvPr>
          <p:cNvPicPr>
            <a:picLocks noChangeAspect="1"/>
          </p:cNvPicPr>
          <p:nvPr/>
        </p:nvPicPr>
        <p:blipFill>
          <a:blip r:embed="rId8"/>
          <a:stretch>
            <a:fillRect/>
          </a:stretch>
        </p:blipFill>
        <p:spPr>
          <a:xfrm>
            <a:off x="228600" y="5029200"/>
            <a:ext cx="1325880" cy="1325880"/>
          </a:xfrm>
          <a:prstGeom prst="rect">
            <a:avLst/>
          </a:prstGeom>
        </p:spPr>
      </p:pic>
      <p:pic>
        <p:nvPicPr>
          <p:cNvPr id="35" name="Image 8" descr="clipboard illustration">    </p:cNvPr>
          <p:cNvPicPr>
            <a:picLocks noChangeAspect="1"/>
          </p:cNvPicPr>
          <p:nvPr/>
        </p:nvPicPr>
        <p:blipFill>
          <a:blip r:embed="rId9"/>
          <a:stretch>
            <a:fillRect/>
          </a:stretch>
        </p:blipFill>
        <p:spPr>
          <a:xfrm>
            <a:off x="10561320" y="4892040"/>
            <a:ext cx="1097280" cy="1350498"/>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2468880" y="548640"/>
            <a:ext cx="7251192" cy="777240"/>
          </a:xfrm>
          <a:prstGeom prst="rect">
            <a:avLst/>
          </a:prstGeom>
          <a:noFill/>
          <a:ln/>
        </p:spPr>
        <p:txBody>
          <a:bodyPr wrap="square" lIns="0" tIns="0" rIns="0" bIns="0" rtlCol="0" anchor="ctr"/>
          <a:lstStyle/>
          <a:p>
            <a:pPr algn="ctr" indent="0" marL="0">
              <a:buNone/>
            </a:pPr>
            <a:r>
              <a:rPr lang="en-US" sz="3200" b="1" dirty="0">
                <a:solidFill>
                  <a:schemeClr val="tx1"/>
                </a:solidFill>
              </a:rPr>
              <a:t>MODULES</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pic>
        <p:nvPicPr>
          <p:cNvPr id="46" name="Image 9" descr="search illustration">    </p:cNvPr>
          <p:cNvPicPr>
            <a:picLocks noChangeAspect="1"/>
          </p:cNvPicPr>
          <p:nvPr/>
        </p:nvPicPr>
        <p:blipFill>
          <a:blip r:embed="rId10"/>
          <a:stretch>
            <a:fillRect/>
          </a:stretch>
        </p:blipFill>
        <p:spPr>
          <a:xfrm>
            <a:off x="10287000" y="137160"/>
            <a:ext cx="1325880" cy="1325880"/>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ctr"/>
            <a:fld id="{F7021451-1387-4CA6-816F-3879F97B5CBC}" type="slidenum">
              <a:rPr b="0" lang="en-US"/>
              <a:t>9</a:t>
            </a:fld>
            <a:endParaRPr lang="en-US"/>
          </a:p>
        </p:txBody>
      </p:sp>
      <p:pic>
        <p:nvPicPr>
          <p:cNvPr id="47" name="HireHub modules diagram" descr="HireHub modules: login, resume upload and parsing, jobs, match score, application tracking, recruiter module, interview scheduling, offer letter, dashboards"/>
          <p:cNvPicPr>
            <a:picLocks noChangeAspect="1"/>
          </p:cNvPicPr>
          <p:nvPr/>
        </p:nvPicPr>
        <p:blipFill>
          <a:blip r:embed="rId13"/>
          <a:stretch>
            <a:fillRect/>
          </a:stretch>
        </p:blipFill>
        <p:spPr>
          <a:xfrm>
            <a:off x="978408" y="1517904"/>
            <a:ext cx="10241280" cy="45018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2468880" y="548640"/>
            <a:ext cx="7251192" cy="777240"/>
          </a:xfrm>
          <a:prstGeom prst="rect">
            <a:avLst/>
          </a:prstGeom>
          <a:noFill/>
          <a:ln/>
        </p:spPr>
        <p:txBody>
          <a:bodyPr wrap="square" lIns="0" tIns="0" rIns="0" bIns="0" rtlCol="0" anchor="ctr"/>
          <a:lstStyle/>
          <a:p>
            <a:pPr algn="ctr" indent="0" marL="0">
              <a:buNone/>
            </a:pPr>
            <a:r>
              <a:rPr lang="en-US" sz="3200" b="1" dirty="0">
                <a:solidFill>
                  <a:schemeClr val="tx1"/>
                </a:solidFill>
              </a:rPr>
              <a:t>SOFTWARE REQUIREMENTS</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737360" y="1600200"/>
            <a:ext cx="4251960" cy="1097280"/>
          </a:xfrm>
          <a:prstGeom prst="roundRect">
            <a:avLst>
              <a:gd name="adj" fmla="val 150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0" name="Shape 8"/>
          <p:cNvSpPr/>
          <p:nvPr/>
        </p:nvSpPr>
        <p:spPr>
          <a:xfrm>
            <a:off x="1938528" y="1828800"/>
            <a:ext cx="640080" cy="640080"/>
          </a:xfrm>
          <a:prstGeom prst="ellipse">
            <a:avLst/>
          </a:prstGeom>
          <a:solidFill>
            <a:schemeClr val="accent1"/>
          </a:solidFill>
          <a:ln w="12700">
            <a:solidFill>
              <a:schemeClr val="accent1"/>
            </a:solidFill>
            <a:prstDash val="solid"/>
          </a:ln>
        </p:spPr>
      </p:sp>
      <p:pic>
        <p:nvPicPr>
          <p:cNvPr id="11" name="Image 0" descr="preencoded.png">    </p:cNvPr>
          <p:cNvPicPr>
            <a:picLocks noChangeAspect="1"/>
          </p:cNvPicPr>
          <p:nvPr/>
        </p:nvPicPr>
        <p:blipFill>
          <a:blip r:embed="rId1"/>
          <a:stretch>
            <a:fillRect/>
          </a:stretch>
        </p:blipFill>
        <p:spPr>
          <a:xfrm>
            <a:off x="2111350" y="2001622"/>
            <a:ext cx="294437" cy="294437"/>
          </a:xfrm>
          <a:prstGeom prst="rect">
            <a:avLst/>
          </a:prstGeom>
        </p:spPr>
      </p:pic>
      <p:sp>
        <p:nvSpPr>
          <p:cNvPr id="12" name="Text 9"/>
          <p:cNvSpPr txBox="1"/>
          <p:nvPr/>
        </p:nvSpPr>
        <p:spPr>
          <a:xfrm>
            <a:off x="2743200" y="1691640"/>
            <a:ext cx="3108960" cy="914400"/>
          </a:xfrm>
          <a:prstGeom prst="rect">
            <a:avLst/>
          </a:prstGeom>
          <a:noFill/>
          <a:ln/>
        </p:spPr>
        <p:txBody>
          <a:bodyPr wrap="square" lIns="0" tIns="0" rIns="0" bIns="0" rtlCol="0" anchor="ctr"/>
          <a:lstStyle/>
          <a:p>
            <a:pPr indent="0" marL="0">
              <a:buNone/>
            </a:pPr>
            <a:r>
              <a:rPr lang="en-US" sz="1400" b="1" dirty="0">
                <a:solidFill>
                  <a:schemeClr val="accent1"/>
                </a:solidFill>
              </a:rPr>
              <a:t>React.js + Vite</a:t>
            </a:r>
            <a:pPr indent="0" marL="0">
              <a:buNone/>
            </a:pPr>
            <a:r>
              <a:rPr lang="en-US" sz="1400" dirty="0">
                <a:solidFill>
                  <a:schemeClr val="tx1"/>
                </a:solidFill>
              </a:rPr>
              <a:t> – builds the user interface (frontend), styled with plain CSS.</a:t>
            </a:r>
            <a:endParaRPr lang="en-US" sz="1400" dirty="0"/>
          </a:p>
        </p:txBody>
      </p:sp>
      <p:sp>
        <p:nvSpPr>
          <p:cNvPr id="13" name="Shape 10"/>
          <p:cNvSpPr/>
          <p:nvPr/>
        </p:nvSpPr>
        <p:spPr>
          <a:xfrm>
            <a:off x="6217920" y="1600200"/>
            <a:ext cx="4251960" cy="1097280"/>
          </a:xfrm>
          <a:prstGeom prst="roundRect">
            <a:avLst>
              <a:gd name="adj" fmla="val 150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4" name="Shape 11"/>
          <p:cNvSpPr/>
          <p:nvPr/>
        </p:nvSpPr>
        <p:spPr>
          <a:xfrm>
            <a:off x="6419088" y="1828800"/>
            <a:ext cx="640080" cy="640080"/>
          </a:xfrm>
          <a:prstGeom prst="ellipse">
            <a:avLst/>
          </a:prstGeom>
          <a:solidFill>
            <a:schemeClr val="accent2"/>
          </a:solidFill>
          <a:ln w="12700">
            <a:solidFill>
              <a:schemeClr val="accent2"/>
            </a:solidFill>
            <a:prstDash val="solid"/>
          </a:ln>
        </p:spPr>
      </p:sp>
      <p:pic>
        <p:nvPicPr>
          <p:cNvPr id="15" name="Image 1" descr="preencoded.png">    </p:cNvPr>
          <p:cNvPicPr>
            <a:picLocks noChangeAspect="1"/>
          </p:cNvPicPr>
          <p:nvPr/>
        </p:nvPicPr>
        <p:blipFill>
          <a:blip r:embed="rId2"/>
          <a:stretch>
            <a:fillRect/>
          </a:stretch>
        </p:blipFill>
        <p:spPr>
          <a:xfrm>
            <a:off x="6591910" y="2001622"/>
            <a:ext cx="294437" cy="294437"/>
          </a:xfrm>
          <a:prstGeom prst="rect">
            <a:avLst/>
          </a:prstGeom>
        </p:spPr>
      </p:pic>
      <p:sp>
        <p:nvSpPr>
          <p:cNvPr id="16" name="Text 12"/>
          <p:cNvSpPr txBox="1"/>
          <p:nvPr/>
        </p:nvSpPr>
        <p:spPr>
          <a:xfrm>
            <a:off x="7223760" y="1691640"/>
            <a:ext cx="3108960" cy="914400"/>
          </a:xfrm>
          <a:prstGeom prst="rect">
            <a:avLst/>
          </a:prstGeom>
          <a:noFill/>
          <a:ln/>
        </p:spPr>
        <p:txBody>
          <a:bodyPr wrap="square" lIns="0" tIns="0" rIns="0" bIns="0" rtlCol="0" anchor="ctr"/>
          <a:lstStyle/>
          <a:p>
            <a:pPr indent="0" marL="0">
              <a:buNone/>
            </a:pPr>
            <a:r>
              <a:rPr lang="en-US" sz="1400" b="1" dirty="0">
                <a:solidFill>
                  <a:schemeClr val="accent1"/>
                </a:solidFill>
              </a:rPr>
              <a:t>Node.js</a:t>
            </a:r>
            <a:pPr indent="0" marL="0">
              <a:buNone/>
            </a:pPr>
            <a:r>
              <a:rPr lang="en-US" sz="1400" dirty="0">
                <a:solidFill>
                  <a:schemeClr val="tx1"/>
                </a:solidFill>
              </a:rPr>
              <a:t> – runs the server-side (backend) code.</a:t>
            </a:r>
            <a:endParaRPr lang="en-US" sz="1400" dirty="0"/>
          </a:p>
        </p:txBody>
      </p:sp>
      <p:sp>
        <p:nvSpPr>
          <p:cNvPr id="17" name="Shape 13"/>
          <p:cNvSpPr/>
          <p:nvPr/>
        </p:nvSpPr>
        <p:spPr>
          <a:xfrm>
            <a:off x="1737360" y="2880360"/>
            <a:ext cx="4251960" cy="1097280"/>
          </a:xfrm>
          <a:prstGeom prst="roundRect">
            <a:avLst>
              <a:gd name="adj" fmla="val 150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8" name="Shape 14"/>
          <p:cNvSpPr/>
          <p:nvPr/>
        </p:nvSpPr>
        <p:spPr>
          <a:xfrm>
            <a:off x="1938528" y="3108960"/>
            <a:ext cx="640080" cy="640080"/>
          </a:xfrm>
          <a:prstGeom prst="ellipse">
            <a:avLst/>
          </a:prstGeom>
          <a:solidFill>
            <a:schemeClr val="accent1"/>
          </a:solidFill>
          <a:ln w="12700">
            <a:solidFill>
              <a:schemeClr val="accent1"/>
            </a:solidFill>
            <a:prstDash val="solid"/>
          </a:ln>
        </p:spPr>
      </p:sp>
      <p:pic>
        <p:nvPicPr>
          <p:cNvPr id="19" name="Image 2" descr="preencoded.png">    </p:cNvPr>
          <p:cNvPicPr>
            <a:picLocks noChangeAspect="1"/>
          </p:cNvPicPr>
          <p:nvPr/>
        </p:nvPicPr>
        <p:blipFill>
          <a:blip r:embed="rId3"/>
          <a:stretch>
            <a:fillRect/>
          </a:stretch>
        </p:blipFill>
        <p:spPr>
          <a:xfrm>
            <a:off x="2111350" y="3281782"/>
            <a:ext cx="294437" cy="294437"/>
          </a:xfrm>
          <a:prstGeom prst="rect">
            <a:avLst/>
          </a:prstGeom>
        </p:spPr>
      </p:pic>
      <p:sp>
        <p:nvSpPr>
          <p:cNvPr id="20" name="Text 15"/>
          <p:cNvSpPr txBox="1"/>
          <p:nvPr/>
        </p:nvSpPr>
        <p:spPr>
          <a:xfrm>
            <a:off x="2743200" y="2971800"/>
            <a:ext cx="3108960" cy="914400"/>
          </a:xfrm>
          <a:prstGeom prst="rect">
            <a:avLst/>
          </a:prstGeom>
          <a:noFill/>
          <a:ln/>
        </p:spPr>
        <p:txBody>
          <a:bodyPr wrap="square" lIns="0" tIns="0" rIns="0" bIns="0" rtlCol="0" anchor="ctr"/>
          <a:lstStyle/>
          <a:p>
            <a:pPr indent="0" marL="0">
              <a:buNone/>
            </a:pPr>
            <a:r>
              <a:rPr lang="en-US" sz="1400" b="1" dirty="0">
                <a:solidFill>
                  <a:schemeClr val="accent1"/>
                </a:solidFill>
              </a:rPr>
              <a:t>Express</a:t>
            </a:r>
            <a:pPr indent="0" marL="0">
              <a:buNone/>
            </a:pPr>
            <a:r>
              <a:rPr lang="en-US" sz="1400" dirty="0">
                <a:solidFill>
                  <a:schemeClr val="tx1"/>
                </a:solidFill>
              </a:rPr>
              <a:t> – creates the REST APIs that link frontend and backend.</a:t>
            </a:r>
            <a:endParaRPr lang="en-US" sz="1400" dirty="0"/>
          </a:p>
        </p:txBody>
      </p:sp>
      <p:sp>
        <p:nvSpPr>
          <p:cNvPr id="21" name="Shape 16"/>
          <p:cNvSpPr/>
          <p:nvPr/>
        </p:nvSpPr>
        <p:spPr>
          <a:xfrm>
            <a:off x="6217920" y="2880360"/>
            <a:ext cx="4251960" cy="1097280"/>
          </a:xfrm>
          <a:prstGeom prst="roundRect">
            <a:avLst>
              <a:gd name="adj" fmla="val 150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22" name="Shape 17"/>
          <p:cNvSpPr/>
          <p:nvPr/>
        </p:nvSpPr>
        <p:spPr>
          <a:xfrm>
            <a:off x="6419088" y="3108960"/>
            <a:ext cx="640080" cy="640080"/>
          </a:xfrm>
          <a:prstGeom prst="ellipse">
            <a:avLst/>
          </a:prstGeom>
          <a:solidFill>
            <a:schemeClr val="accent2"/>
          </a:solidFill>
          <a:ln w="12700">
            <a:solidFill>
              <a:schemeClr val="accent2"/>
            </a:solidFill>
            <a:prstDash val="solid"/>
          </a:ln>
        </p:spPr>
      </p:sp>
      <p:pic>
        <p:nvPicPr>
          <p:cNvPr id="23" name="Image 3" descr="preencoded.png">    </p:cNvPr>
          <p:cNvPicPr>
            <a:picLocks noChangeAspect="1"/>
          </p:cNvPicPr>
          <p:nvPr/>
        </p:nvPicPr>
        <p:blipFill>
          <a:blip r:embed="rId4"/>
          <a:stretch>
            <a:fillRect/>
          </a:stretch>
        </p:blipFill>
        <p:spPr>
          <a:xfrm>
            <a:off x="6591910" y="3281782"/>
            <a:ext cx="294437" cy="294437"/>
          </a:xfrm>
          <a:prstGeom prst="rect">
            <a:avLst/>
          </a:prstGeom>
        </p:spPr>
      </p:pic>
      <p:sp>
        <p:nvSpPr>
          <p:cNvPr id="24" name="Text 18"/>
          <p:cNvSpPr txBox="1"/>
          <p:nvPr/>
        </p:nvSpPr>
        <p:spPr>
          <a:xfrm>
            <a:off x="7223760" y="2971800"/>
            <a:ext cx="3108960" cy="914400"/>
          </a:xfrm>
          <a:prstGeom prst="rect">
            <a:avLst/>
          </a:prstGeom>
          <a:noFill/>
          <a:ln/>
        </p:spPr>
        <p:txBody>
          <a:bodyPr wrap="square" lIns="0" tIns="0" rIns="0" bIns="0" rtlCol="0" anchor="ctr"/>
          <a:lstStyle/>
          <a:p>
            <a:pPr indent="0" marL="0">
              <a:buNone/>
            </a:pPr>
            <a:r>
              <a:rPr lang="en-US" sz="1400" b="1" dirty="0">
                <a:solidFill>
                  <a:schemeClr val="accent1"/>
                </a:solidFill>
              </a:rPr>
              <a:t>MongoDB</a:t>
            </a:r>
            <a:pPr indent="0" marL="0">
              <a:buNone/>
            </a:pPr>
            <a:r>
              <a:rPr lang="en-US" sz="1400" dirty="0">
                <a:solidFill>
                  <a:schemeClr val="tx1"/>
                </a:solidFill>
              </a:rPr>
              <a:t> – stores users, jobs, resumes and applications.</a:t>
            </a:r>
            <a:endParaRPr lang="en-US" sz="1400" dirty="0"/>
          </a:p>
        </p:txBody>
      </p:sp>
      <p:sp>
        <p:nvSpPr>
          <p:cNvPr id="25" name="Shape 19"/>
          <p:cNvSpPr/>
          <p:nvPr/>
        </p:nvSpPr>
        <p:spPr>
          <a:xfrm>
            <a:off x="1737360" y="4160520"/>
            <a:ext cx="4251960" cy="1097280"/>
          </a:xfrm>
          <a:prstGeom prst="roundRect">
            <a:avLst>
              <a:gd name="adj" fmla="val 150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26" name="Shape 20"/>
          <p:cNvSpPr/>
          <p:nvPr/>
        </p:nvSpPr>
        <p:spPr>
          <a:xfrm>
            <a:off x="1938528" y="4389120"/>
            <a:ext cx="640080" cy="640080"/>
          </a:xfrm>
          <a:prstGeom prst="ellipse">
            <a:avLst/>
          </a:prstGeom>
          <a:solidFill>
            <a:schemeClr val="accent1"/>
          </a:solidFill>
          <a:ln w="12700">
            <a:solidFill>
              <a:schemeClr val="accent1"/>
            </a:solidFill>
            <a:prstDash val="solid"/>
          </a:ln>
        </p:spPr>
      </p:sp>
      <p:pic>
        <p:nvPicPr>
          <p:cNvPr id="27" name="Image 4" descr="preencoded.png">    </p:cNvPr>
          <p:cNvPicPr>
            <a:picLocks noChangeAspect="1"/>
          </p:cNvPicPr>
          <p:nvPr/>
        </p:nvPicPr>
        <p:blipFill>
          <a:blip r:embed="rId5"/>
          <a:stretch>
            <a:fillRect/>
          </a:stretch>
        </p:blipFill>
        <p:spPr>
          <a:xfrm>
            <a:off x="2111350" y="4561942"/>
            <a:ext cx="294437" cy="294437"/>
          </a:xfrm>
          <a:prstGeom prst="rect">
            <a:avLst/>
          </a:prstGeom>
        </p:spPr>
      </p:pic>
      <p:sp>
        <p:nvSpPr>
          <p:cNvPr id="28" name="Text 21"/>
          <p:cNvSpPr txBox="1"/>
          <p:nvPr/>
        </p:nvSpPr>
        <p:spPr>
          <a:xfrm>
            <a:off x="2743200" y="4251960"/>
            <a:ext cx="3108960" cy="914400"/>
          </a:xfrm>
          <a:prstGeom prst="rect">
            <a:avLst/>
          </a:prstGeom>
          <a:noFill/>
          <a:ln/>
        </p:spPr>
        <p:txBody>
          <a:bodyPr wrap="square" lIns="0" tIns="0" rIns="0" bIns="0" rtlCol="0" anchor="ctr"/>
          <a:lstStyle/>
          <a:p>
            <a:pPr indent="0" marL="0">
              <a:buNone/>
            </a:pPr>
            <a:r>
              <a:rPr lang="en-US" sz="1400" b="1" dirty="0">
                <a:solidFill>
                  <a:schemeClr val="accent1"/>
                </a:solidFill>
              </a:rPr>
              <a:t>Gemini AI + Resume Parser</a:t>
            </a:r>
            <a:pPr indent="0" marL="0">
              <a:buNone/>
            </a:pPr>
            <a:r>
              <a:rPr lang="en-US" sz="1400" dirty="0">
                <a:solidFill>
                  <a:schemeClr val="tx1"/>
                </a:solidFill>
              </a:rPr>
              <a:t> – reads resumes and extracts skills and other details.</a:t>
            </a:r>
            <a:endParaRPr lang="en-US" sz="1400" dirty="0"/>
          </a:p>
        </p:txBody>
      </p:sp>
      <p:sp>
        <p:nvSpPr>
          <p:cNvPr id="29" name="Shape 22"/>
          <p:cNvSpPr/>
          <p:nvPr/>
        </p:nvSpPr>
        <p:spPr>
          <a:xfrm>
            <a:off x="6217920" y="4160520"/>
            <a:ext cx="4251960" cy="1097280"/>
          </a:xfrm>
          <a:prstGeom prst="roundRect">
            <a:avLst>
              <a:gd name="adj" fmla="val 15000"/>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30" name="Shape 23"/>
          <p:cNvSpPr/>
          <p:nvPr/>
        </p:nvSpPr>
        <p:spPr>
          <a:xfrm>
            <a:off x="6419088" y="4389120"/>
            <a:ext cx="640080" cy="640080"/>
          </a:xfrm>
          <a:prstGeom prst="ellipse">
            <a:avLst/>
          </a:prstGeom>
          <a:solidFill>
            <a:schemeClr val="accent2"/>
          </a:solidFill>
          <a:ln w="12700">
            <a:solidFill>
              <a:schemeClr val="accent2"/>
            </a:solidFill>
            <a:prstDash val="solid"/>
          </a:ln>
        </p:spPr>
      </p:sp>
      <p:pic>
        <p:nvPicPr>
          <p:cNvPr id="31" name="Image 5" descr="preencoded.png">    </p:cNvPr>
          <p:cNvPicPr>
            <a:picLocks noChangeAspect="1"/>
          </p:cNvPicPr>
          <p:nvPr/>
        </p:nvPicPr>
        <p:blipFill>
          <a:blip r:embed="rId6"/>
          <a:stretch>
            <a:fillRect/>
          </a:stretch>
        </p:blipFill>
        <p:spPr>
          <a:xfrm>
            <a:off x="6591910" y="4561942"/>
            <a:ext cx="294437" cy="294437"/>
          </a:xfrm>
          <a:prstGeom prst="rect">
            <a:avLst/>
          </a:prstGeom>
        </p:spPr>
      </p:pic>
      <p:sp>
        <p:nvSpPr>
          <p:cNvPr id="32" name="Text 24"/>
          <p:cNvSpPr txBox="1"/>
          <p:nvPr/>
        </p:nvSpPr>
        <p:spPr>
          <a:xfrm>
            <a:off x="7223760" y="4251960"/>
            <a:ext cx="3108960" cy="914400"/>
          </a:xfrm>
          <a:prstGeom prst="rect">
            <a:avLst/>
          </a:prstGeom>
          <a:noFill/>
          <a:ln/>
        </p:spPr>
        <p:txBody>
          <a:bodyPr wrap="square" lIns="0" tIns="0" rIns="0" bIns="0" rtlCol="0" anchor="ctr"/>
          <a:lstStyle/>
          <a:p>
            <a:pPr indent="0" marL="0">
              <a:buNone/>
            </a:pPr>
            <a:r>
              <a:rPr lang="en-US" sz="1400" b="1" dirty="0">
                <a:solidFill>
                  <a:schemeClr val="accent1"/>
                </a:solidFill>
              </a:rPr>
              <a:t>JWT Authentication</a:t>
            </a:r>
            <a:pPr indent="0" marL="0">
              <a:buNone/>
            </a:pPr>
            <a:r>
              <a:rPr lang="en-US" sz="1400" dirty="0">
                <a:solidFill>
                  <a:schemeClr val="tx1"/>
                </a:solidFill>
              </a:rPr>
              <a:t> – gives secure login with separate access for each role.</a:t>
            </a:r>
            <a:endParaRPr lang="en-US" sz="1400" dirty="0"/>
          </a:p>
        </p:txBody>
      </p:sp>
      <p:pic>
        <p:nvPicPr>
          <p:cNvPr id="33" name="Image 6" descr="laptop illustration">    </p:cNvPr>
          <p:cNvPicPr>
            <a:picLocks noChangeAspect="1"/>
          </p:cNvPicPr>
          <p:nvPr/>
        </p:nvPicPr>
        <p:blipFill>
          <a:blip r:embed="rId7"/>
          <a:stretch>
            <a:fillRect/>
          </a:stretch>
        </p:blipFill>
        <p:spPr>
          <a:xfrm>
            <a:off x="9829800" y="182880"/>
            <a:ext cx="1920240" cy="1228954"/>
          </a:xfrm>
          <a:prstGeom prst="rect">
            <a:avLst/>
          </a:prstGeom>
        </p:spPr>
      </p:pic>
      <p:pic>
        <p:nvPicPr>
          <p:cNvPr id="34" name="Image 7" descr="resume illustration">    </p:cNvPr>
          <p:cNvPicPr>
            <a:picLocks noChangeAspect="1"/>
          </p:cNvPicPr>
          <p:nvPr/>
        </p:nvPicPr>
        <p:blipFill>
          <a:blip r:embed="rId8"/>
          <a:stretch>
            <a:fillRect/>
          </a:stretch>
        </p:blipFill>
        <p:spPr>
          <a:xfrm>
            <a:off x="365760" y="4846320"/>
            <a:ext cx="1143000" cy="1357313"/>
          </a:xfrm>
          <a:prstGeom prst="rect">
            <a:avLst/>
          </a:prstGeom>
        </p:spPr>
      </p:pic>
      <p:pic>
        <p:nvPicPr>
          <p:cNvPr id="35" name="Image 8" descr="briefcase illustration">    </p:cNvPr>
          <p:cNvPicPr>
            <a:picLocks noChangeAspect="1"/>
          </p:cNvPicPr>
          <p:nvPr/>
        </p:nvPicPr>
        <p:blipFill>
          <a:blip r:embed="rId9"/>
          <a:stretch>
            <a:fillRect/>
          </a:stretch>
        </p:blipFill>
        <p:spPr>
          <a:xfrm>
            <a:off x="10424160" y="5120640"/>
            <a:ext cx="1325880" cy="1169894"/>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2468880" y="548640"/>
            <a:ext cx="7251192" cy="777240"/>
          </a:xfrm>
          <a:prstGeom prst="rect">
            <a:avLst/>
          </a:prstGeom>
          <a:noFill/>
          <a:ln/>
        </p:spPr>
        <p:txBody>
          <a:bodyPr wrap="square" lIns="0" tIns="0" rIns="0" bIns="0" rtlCol="0" anchor="ctr"/>
          <a:lstStyle/>
          <a:p>
            <a:pPr algn="ctr" indent="0" marL="0">
              <a:buNone/>
            </a:pPr>
            <a:r>
              <a:rPr lang="en-US" sz="3200" b="1" dirty="0">
                <a:solidFill>
                  <a:schemeClr val="tx1"/>
                </a:solidFill>
              </a:rPr>
              <a:t>CONCLUSION AND FUTURE SCOPE</a:t>
            </a:r>
            <a:endParaRPr lang="en-US" sz="3200" dirty="0"/>
          </a:p>
        </p:txBody>
      </p:sp>
      <p:sp>
        <p:nvSpPr>
          <p:cNvPr id="3" name="Shape 1"/>
          <p:cNvSpPr/>
          <p:nvPr/>
        </p:nvSpPr>
        <p:spPr>
          <a:xfrm>
            <a:off x="960120" y="2377440"/>
            <a:ext cx="146304" cy="146304"/>
          </a:xfrm>
          <a:prstGeom prst="ellipse">
            <a:avLst/>
          </a:prstGeom>
          <a:solidFill>
            <a:schemeClr val="accent3"/>
          </a:solidFill>
          <a:ln w="12700">
            <a:solidFill>
              <a:schemeClr val="accent3"/>
            </a:solidFill>
            <a:prstDash val="solid"/>
          </a:ln>
        </p:spPr>
      </p:sp>
      <p:sp>
        <p:nvSpPr>
          <p:cNvPr id="4" name="Shape 2"/>
          <p:cNvSpPr/>
          <p:nvPr/>
        </p:nvSpPr>
        <p:spPr>
          <a:xfrm>
            <a:off x="11292840" y="2011680"/>
            <a:ext cx="146304" cy="146304"/>
          </a:xfrm>
          <a:prstGeom prst="ellipse">
            <a:avLst/>
          </a:prstGeom>
          <a:solidFill>
            <a:schemeClr val="accent3"/>
          </a:solidFill>
          <a:ln w="12700">
            <a:solidFill>
              <a:schemeClr val="accent3"/>
            </a:solidFill>
            <a:prstDash val="solid"/>
          </a:ln>
        </p:spPr>
      </p:sp>
      <p:sp>
        <p:nvSpPr>
          <p:cNvPr id="5" name="Shape 3"/>
          <p:cNvSpPr/>
          <p:nvPr/>
        </p:nvSpPr>
        <p:spPr>
          <a:xfrm>
            <a:off x="868680" y="4572000"/>
            <a:ext cx="146304" cy="146304"/>
          </a:xfrm>
          <a:prstGeom prst="ellipse">
            <a:avLst/>
          </a:prstGeom>
          <a:solidFill>
            <a:schemeClr val="accent3"/>
          </a:solidFill>
          <a:ln w="12700">
            <a:solidFill>
              <a:schemeClr val="accent3"/>
            </a:solidFill>
            <a:prstDash val="solid"/>
          </a:ln>
        </p:spPr>
      </p:sp>
      <p:sp>
        <p:nvSpPr>
          <p:cNvPr id="6" name="Shape 4"/>
          <p:cNvSpPr/>
          <p:nvPr/>
        </p:nvSpPr>
        <p:spPr>
          <a:xfrm>
            <a:off x="11384280" y="4480560"/>
            <a:ext cx="146304" cy="146304"/>
          </a:xfrm>
          <a:prstGeom prst="ellipse">
            <a:avLst/>
          </a:prstGeom>
          <a:solidFill>
            <a:schemeClr val="accent3"/>
          </a:solidFill>
          <a:ln w="12700">
            <a:solidFill>
              <a:schemeClr val="accent3"/>
            </a:solidFill>
            <a:prstDash val="solid"/>
          </a:ln>
        </p:spPr>
      </p:sp>
      <p:sp>
        <p:nvSpPr>
          <p:cNvPr id="7" name="Shape 5"/>
          <p:cNvSpPr/>
          <p:nvPr/>
        </p:nvSpPr>
        <p:spPr>
          <a:xfrm>
            <a:off x="3840480" y="6355080"/>
            <a:ext cx="146304" cy="146304"/>
          </a:xfrm>
          <a:prstGeom prst="ellipse">
            <a:avLst/>
          </a:prstGeom>
          <a:solidFill>
            <a:schemeClr val="accent3"/>
          </a:solidFill>
          <a:ln w="12700">
            <a:solidFill>
              <a:schemeClr val="accent3"/>
            </a:solidFill>
            <a:prstDash val="solid"/>
          </a:ln>
        </p:spPr>
      </p:sp>
      <p:sp>
        <p:nvSpPr>
          <p:cNvPr id="8" name="Shape 6"/>
          <p:cNvSpPr/>
          <p:nvPr/>
        </p:nvSpPr>
        <p:spPr>
          <a:xfrm>
            <a:off x="8595360" y="384048"/>
            <a:ext cx="146304" cy="146304"/>
          </a:xfrm>
          <a:prstGeom prst="ellipse">
            <a:avLst/>
          </a:prstGeom>
          <a:solidFill>
            <a:schemeClr val="accent3"/>
          </a:solidFill>
          <a:ln w="12700">
            <a:solidFill>
              <a:schemeClr val="accent3"/>
            </a:solidFill>
            <a:prstDash val="solid"/>
          </a:ln>
        </p:spPr>
      </p:sp>
      <p:sp>
        <p:nvSpPr>
          <p:cNvPr id="9" name="Shape 7"/>
          <p:cNvSpPr/>
          <p:nvPr/>
        </p:nvSpPr>
        <p:spPr>
          <a:xfrm>
            <a:off x="1371600" y="1554480"/>
            <a:ext cx="4480560" cy="3931920"/>
          </a:xfrm>
          <a:prstGeom prst="roundRect">
            <a:avLst>
              <a:gd name="adj" fmla="val 4186"/>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0" name="Shape 8"/>
          <p:cNvSpPr/>
          <p:nvPr/>
        </p:nvSpPr>
        <p:spPr>
          <a:xfrm>
            <a:off x="6126480" y="1554480"/>
            <a:ext cx="4480560" cy="3931920"/>
          </a:xfrm>
          <a:prstGeom prst="roundRect">
            <a:avLst>
              <a:gd name="adj" fmla="val 4186"/>
            </a:avLst>
          </a:prstGeom>
          <a:solidFill>
            <a:schemeClr val="bg1"/>
          </a:solidFill>
          <a:ln w="12700">
            <a:solidFill>
              <a:srgbClr val="E3D8F7"/>
            </a:solidFill>
            <a:prstDash val="solid"/>
          </a:ln>
          <a:effectLst>
            <a:outerShdw sx="100000" sy="100000" kx="0" ky="0" algn="bl" rotWithShape="0" blurRad="101600" dist="38100" dir="5400000">
              <a:srgbClr val="8E7CB8">
                <a:alpha val="30000"/>
              </a:srgbClr>
            </a:outerShdw>
          </a:effectLst>
        </p:spPr>
      </p:sp>
      <p:sp>
        <p:nvSpPr>
          <p:cNvPr id="11" name="Shape 9"/>
          <p:cNvSpPr/>
          <p:nvPr/>
        </p:nvSpPr>
        <p:spPr>
          <a:xfrm>
            <a:off x="1600200" y="1755648"/>
            <a:ext cx="548640" cy="548640"/>
          </a:xfrm>
          <a:prstGeom prst="ellipse">
            <a:avLst/>
          </a:prstGeom>
          <a:solidFill>
            <a:schemeClr val="accent1"/>
          </a:solidFill>
          <a:ln w="12700">
            <a:solidFill>
              <a:schemeClr val="accent1"/>
            </a:solidFill>
            <a:prstDash val="solid"/>
          </a:ln>
        </p:spPr>
      </p:sp>
      <p:pic>
        <p:nvPicPr>
          <p:cNvPr id="12" name="Image 0" descr="preencoded.png">    </p:cNvPr>
          <p:cNvPicPr>
            <a:picLocks noChangeAspect="1"/>
          </p:cNvPicPr>
          <p:nvPr/>
        </p:nvPicPr>
        <p:blipFill>
          <a:blip r:embed="rId1"/>
          <a:stretch>
            <a:fillRect/>
          </a:stretch>
        </p:blipFill>
        <p:spPr>
          <a:xfrm>
            <a:off x="1748333" y="1903781"/>
            <a:ext cx="252374" cy="252374"/>
          </a:xfrm>
          <a:prstGeom prst="rect">
            <a:avLst/>
          </a:prstGeom>
        </p:spPr>
      </p:pic>
      <p:sp>
        <p:nvSpPr>
          <p:cNvPr id="13" name="Text 10"/>
          <p:cNvSpPr txBox="1"/>
          <p:nvPr/>
        </p:nvSpPr>
        <p:spPr>
          <a:xfrm>
            <a:off x="2286000" y="1755648"/>
            <a:ext cx="3291840" cy="54864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Conclusion</a:t>
            </a:r>
            <a:endParaRPr lang="en-US" sz="2200" dirty="0"/>
          </a:p>
        </p:txBody>
      </p:sp>
      <p:sp>
        <p:nvSpPr>
          <p:cNvPr id="14" name="Text 11"/>
          <p:cNvSpPr txBox="1"/>
          <p:nvPr/>
        </p:nvSpPr>
        <p:spPr>
          <a:xfrm>
            <a:off x="1600200" y="2468880"/>
            <a:ext cx="4023360" cy="2834640"/>
          </a:xfrm>
          <a:prstGeom prst="rect">
            <a:avLst/>
          </a:prstGeom>
          <a:noFill/>
          <a:ln/>
        </p:spPr>
        <p:txBody>
          <a:bodyPr wrap="square" lIns="0" tIns="0" rIns="0" bIns="0" rtlCol="0" anchor="t"/>
          <a:lstStyle/>
          <a:p>
            <a:pPr indent="0" marL="0">
              <a:lnSpc>
                <a:spcPct val="120000"/>
              </a:lnSpc>
              <a:buNone/>
            </a:pPr>
            <a:r>
              <a:rPr lang="en-US" sz="1700" dirty="0">
                <a:solidFill>
                  <a:schemeClr val="tx2"/>
                </a:solidFill>
              </a:rPr>
              <a:t>Our job portal makes hiring simple. It reads resumes automatically and matches them with job needs. This cuts manual work, saves time and gives better job suggestions. Both candidates and recruiters get a faster and more organised hiring process.</a:t>
            </a:r>
            <a:endParaRPr lang="en-US" sz="1700" dirty="0"/>
          </a:p>
        </p:txBody>
      </p:sp>
      <p:sp>
        <p:nvSpPr>
          <p:cNvPr id="15" name="Shape 12"/>
          <p:cNvSpPr/>
          <p:nvPr/>
        </p:nvSpPr>
        <p:spPr>
          <a:xfrm>
            <a:off x="6355080" y="1755648"/>
            <a:ext cx="548640" cy="548640"/>
          </a:xfrm>
          <a:prstGeom prst="ellipse">
            <a:avLst/>
          </a:prstGeom>
          <a:solidFill>
            <a:schemeClr val="accent2"/>
          </a:solidFill>
          <a:ln w="12700">
            <a:solidFill>
              <a:schemeClr val="accent2"/>
            </a:solidFill>
            <a:prstDash val="solid"/>
          </a:ln>
        </p:spPr>
      </p:sp>
      <p:pic>
        <p:nvPicPr>
          <p:cNvPr id="16" name="Image 1" descr="preencoded.png">    </p:cNvPr>
          <p:cNvPicPr>
            <a:picLocks noChangeAspect="1"/>
          </p:cNvPicPr>
          <p:nvPr/>
        </p:nvPicPr>
        <p:blipFill>
          <a:blip r:embed="rId2"/>
          <a:stretch>
            <a:fillRect/>
          </a:stretch>
        </p:blipFill>
        <p:spPr>
          <a:xfrm>
            <a:off x="6503213" y="1903781"/>
            <a:ext cx="252374" cy="252374"/>
          </a:xfrm>
          <a:prstGeom prst="rect">
            <a:avLst/>
          </a:prstGeom>
        </p:spPr>
      </p:pic>
      <p:sp>
        <p:nvSpPr>
          <p:cNvPr id="17" name="Text 13"/>
          <p:cNvSpPr txBox="1"/>
          <p:nvPr/>
        </p:nvSpPr>
        <p:spPr>
          <a:xfrm>
            <a:off x="7040880" y="1755648"/>
            <a:ext cx="3291840" cy="54864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Future Scope</a:t>
            </a:r>
            <a:endParaRPr lang="en-US" sz="2200" dirty="0"/>
          </a:p>
        </p:txBody>
      </p:sp>
      <p:sp>
        <p:nvSpPr>
          <p:cNvPr id="18" name="Shape 14"/>
          <p:cNvSpPr/>
          <p:nvPr/>
        </p:nvSpPr>
        <p:spPr>
          <a:xfrm>
            <a:off x="6373368" y="2514600"/>
            <a:ext cx="274320" cy="274320"/>
          </a:xfrm>
          <a:prstGeom prst="ellipse">
            <a:avLst/>
          </a:prstGeom>
          <a:solidFill>
            <a:schemeClr val="accent2"/>
          </a:solidFill>
          <a:ln w="12700">
            <a:solidFill>
              <a:schemeClr val="accent2"/>
            </a:solidFill>
            <a:prstDash val="solid"/>
          </a:ln>
        </p:spPr>
      </p:sp>
      <p:pic>
        <p:nvPicPr>
          <p:cNvPr id="19" name="Image 2" descr="preencoded.png">    </p:cNvPr>
          <p:cNvPicPr>
            <a:picLocks noChangeAspect="1"/>
          </p:cNvPicPr>
          <p:nvPr/>
        </p:nvPicPr>
        <p:blipFill>
          <a:blip r:embed="rId3"/>
          <a:stretch>
            <a:fillRect/>
          </a:stretch>
        </p:blipFill>
        <p:spPr>
          <a:xfrm>
            <a:off x="6447434" y="2588666"/>
            <a:ext cx="126187" cy="126187"/>
          </a:xfrm>
          <a:prstGeom prst="rect">
            <a:avLst/>
          </a:prstGeom>
        </p:spPr>
      </p:pic>
      <p:sp>
        <p:nvSpPr>
          <p:cNvPr id="20" name="Text 15"/>
          <p:cNvSpPr txBox="1"/>
          <p:nvPr/>
        </p:nvSpPr>
        <p:spPr>
          <a:xfrm>
            <a:off x="6812280" y="2468880"/>
            <a:ext cx="3657600" cy="365760"/>
          </a:xfrm>
          <a:prstGeom prst="rect">
            <a:avLst/>
          </a:prstGeom>
          <a:noFill/>
          <a:ln/>
        </p:spPr>
        <p:txBody>
          <a:bodyPr wrap="square" lIns="0" tIns="0" rIns="0" bIns="0" rtlCol="0" anchor="ctr"/>
          <a:lstStyle/>
          <a:p>
            <a:pPr indent="0" marL="0">
              <a:buNone/>
            </a:pPr>
            <a:r>
              <a:rPr lang="en-US" sz="1400" dirty="0">
                <a:solidFill>
                  <a:schemeClr val="tx1"/>
                </a:solidFill>
              </a:rPr>
              <a:t>Smarter AI/NLP for more accurate resume reading</a:t>
            </a:r>
            <a:endParaRPr lang="en-US" sz="1400" dirty="0"/>
          </a:p>
        </p:txBody>
      </p:sp>
      <p:sp>
        <p:nvSpPr>
          <p:cNvPr id="21" name="Shape 16"/>
          <p:cNvSpPr/>
          <p:nvPr/>
        </p:nvSpPr>
        <p:spPr>
          <a:xfrm>
            <a:off x="6373368" y="2990088"/>
            <a:ext cx="274320" cy="274320"/>
          </a:xfrm>
          <a:prstGeom prst="ellipse">
            <a:avLst/>
          </a:prstGeom>
          <a:solidFill>
            <a:schemeClr val="accent2"/>
          </a:solidFill>
          <a:ln w="12700">
            <a:solidFill>
              <a:schemeClr val="accent2"/>
            </a:solidFill>
            <a:prstDash val="solid"/>
          </a:ln>
        </p:spPr>
      </p:sp>
      <p:pic>
        <p:nvPicPr>
          <p:cNvPr id="22" name="Image 3" descr="preencoded.png">    </p:cNvPr>
          <p:cNvPicPr>
            <a:picLocks noChangeAspect="1"/>
          </p:cNvPicPr>
          <p:nvPr/>
        </p:nvPicPr>
        <p:blipFill>
          <a:blip r:embed="rId4"/>
          <a:stretch>
            <a:fillRect/>
          </a:stretch>
        </p:blipFill>
        <p:spPr>
          <a:xfrm>
            <a:off x="6447434" y="3064154"/>
            <a:ext cx="126187" cy="126187"/>
          </a:xfrm>
          <a:prstGeom prst="rect">
            <a:avLst/>
          </a:prstGeom>
        </p:spPr>
      </p:pic>
      <p:sp>
        <p:nvSpPr>
          <p:cNvPr id="23" name="Text 17"/>
          <p:cNvSpPr txBox="1"/>
          <p:nvPr/>
        </p:nvSpPr>
        <p:spPr>
          <a:xfrm>
            <a:off x="6812280" y="2944368"/>
            <a:ext cx="3657600" cy="365760"/>
          </a:xfrm>
          <a:prstGeom prst="rect">
            <a:avLst/>
          </a:prstGeom>
          <a:noFill/>
          <a:ln/>
        </p:spPr>
        <p:txBody>
          <a:bodyPr wrap="square" lIns="0" tIns="0" rIns="0" bIns="0" rtlCol="0" anchor="ctr"/>
          <a:lstStyle/>
          <a:p>
            <a:pPr indent="0" marL="0">
              <a:buNone/>
            </a:pPr>
            <a:r>
              <a:rPr lang="en-US" sz="1400" dirty="0">
                <a:solidFill>
                  <a:schemeClr val="tx1"/>
                </a:solidFill>
              </a:rPr>
              <a:t>Machine-learning based job recommendations</a:t>
            </a:r>
            <a:endParaRPr lang="en-US" sz="1400" dirty="0"/>
          </a:p>
        </p:txBody>
      </p:sp>
      <p:sp>
        <p:nvSpPr>
          <p:cNvPr id="24" name="Shape 18"/>
          <p:cNvSpPr/>
          <p:nvPr/>
        </p:nvSpPr>
        <p:spPr>
          <a:xfrm>
            <a:off x="6373368" y="3465576"/>
            <a:ext cx="274320" cy="274320"/>
          </a:xfrm>
          <a:prstGeom prst="ellipse">
            <a:avLst/>
          </a:prstGeom>
          <a:solidFill>
            <a:schemeClr val="accent2"/>
          </a:solidFill>
          <a:ln w="12700">
            <a:solidFill>
              <a:schemeClr val="accent2"/>
            </a:solidFill>
            <a:prstDash val="solid"/>
          </a:ln>
        </p:spPr>
      </p:sp>
      <p:pic>
        <p:nvPicPr>
          <p:cNvPr id="25" name="Image 4" descr="preencoded.png">    </p:cNvPr>
          <p:cNvPicPr>
            <a:picLocks noChangeAspect="1"/>
          </p:cNvPicPr>
          <p:nvPr/>
        </p:nvPicPr>
        <p:blipFill>
          <a:blip r:embed="rId5"/>
          <a:stretch>
            <a:fillRect/>
          </a:stretch>
        </p:blipFill>
        <p:spPr>
          <a:xfrm>
            <a:off x="6447434" y="3539642"/>
            <a:ext cx="126187" cy="126187"/>
          </a:xfrm>
          <a:prstGeom prst="rect">
            <a:avLst/>
          </a:prstGeom>
        </p:spPr>
      </p:pic>
      <p:sp>
        <p:nvSpPr>
          <p:cNvPr id="26" name="Text 19"/>
          <p:cNvSpPr txBox="1"/>
          <p:nvPr/>
        </p:nvSpPr>
        <p:spPr>
          <a:xfrm>
            <a:off x="6812280" y="3419856"/>
            <a:ext cx="3657600" cy="365760"/>
          </a:xfrm>
          <a:prstGeom prst="rect">
            <a:avLst/>
          </a:prstGeom>
          <a:noFill/>
          <a:ln/>
        </p:spPr>
        <p:txBody>
          <a:bodyPr wrap="square" lIns="0" tIns="0" rIns="0" bIns="0" rtlCol="0" anchor="ctr"/>
          <a:lstStyle/>
          <a:p>
            <a:pPr indent="0" marL="0">
              <a:buNone/>
            </a:pPr>
            <a:r>
              <a:rPr lang="en-US" sz="1400" dirty="0">
                <a:solidFill>
                  <a:schemeClr val="tx1"/>
                </a:solidFill>
              </a:rPr>
              <a:t>Support for more resume formats and languages</a:t>
            </a:r>
            <a:endParaRPr lang="en-US" sz="1400" dirty="0"/>
          </a:p>
        </p:txBody>
      </p:sp>
      <p:sp>
        <p:nvSpPr>
          <p:cNvPr id="27" name="Shape 20"/>
          <p:cNvSpPr/>
          <p:nvPr/>
        </p:nvSpPr>
        <p:spPr>
          <a:xfrm>
            <a:off x="6373368" y="3941064"/>
            <a:ext cx="274320" cy="274320"/>
          </a:xfrm>
          <a:prstGeom prst="ellipse">
            <a:avLst/>
          </a:prstGeom>
          <a:solidFill>
            <a:schemeClr val="accent2"/>
          </a:solidFill>
          <a:ln w="12700">
            <a:solidFill>
              <a:schemeClr val="accent2"/>
            </a:solidFill>
            <a:prstDash val="solid"/>
          </a:ln>
        </p:spPr>
      </p:sp>
      <p:pic>
        <p:nvPicPr>
          <p:cNvPr id="28" name="Image 5" descr="preencoded.png">    </p:cNvPr>
          <p:cNvPicPr>
            <a:picLocks noChangeAspect="1"/>
          </p:cNvPicPr>
          <p:nvPr/>
        </p:nvPicPr>
        <p:blipFill>
          <a:blip r:embed="rId6"/>
          <a:stretch>
            <a:fillRect/>
          </a:stretch>
        </p:blipFill>
        <p:spPr>
          <a:xfrm>
            <a:off x="6447434" y="4015130"/>
            <a:ext cx="126187" cy="126187"/>
          </a:xfrm>
          <a:prstGeom prst="rect">
            <a:avLst/>
          </a:prstGeom>
        </p:spPr>
      </p:pic>
      <p:sp>
        <p:nvSpPr>
          <p:cNvPr id="29" name="Text 21"/>
          <p:cNvSpPr txBox="1"/>
          <p:nvPr/>
        </p:nvSpPr>
        <p:spPr>
          <a:xfrm>
            <a:off x="6812280" y="3895344"/>
            <a:ext cx="3657600" cy="365760"/>
          </a:xfrm>
          <a:prstGeom prst="rect">
            <a:avLst/>
          </a:prstGeom>
          <a:noFill/>
          <a:ln/>
        </p:spPr>
        <p:txBody>
          <a:bodyPr wrap="square" lIns="0" tIns="0" rIns="0" bIns="0" rtlCol="0" anchor="ctr"/>
          <a:lstStyle/>
          <a:p>
            <a:pPr indent="0" marL="0">
              <a:buNone/>
            </a:pPr>
            <a:r>
              <a:rPr lang="en-US" sz="1400" dirty="0">
                <a:solidFill>
                  <a:schemeClr val="tx1"/>
                </a:solidFill>
              </a:rPr>
              <a:t>Chat screen for the AI career assistant</a:t>
            </a:r>
            <a:endParaRPr lang="en-US" sz="1400" dirty="0"/>
          </a:p>
        </p:txBody>
      </p:sp>
      <p:sp>
        <p:nvSpPr>
          <p:cNvPr id="30" name="Shape 22"/>
          <p:cNvSpPr/>
          <p:nvPr/>
        </p:nvSpPr>
        <p:spPr>
          <a:xfrm>
            <a:off x="6373368" y="4416552"/>
            <a:ext cx="274320" cy="274320"/>
          </a:xfrm>
          <a:prstGeom prst="ellipse">
            <a:avLst/>
          </a:prstGeom>
          <a:solidFill>
            <a:schemeClr val="accent2"/>
          </a:solidFill>
          <a:ln w="12700">
            <a:solidFill>
              <a:schemeClr val="accent2"/>
            </a:solidFill>
            <a:prstDash val="solid"/>
          </a:ln>
        </p:spPr>
      </p:sp>
      <p:pic>
        <p:nvPicPr>
          <p:cNvPr id="31" name="Image 6" descr="preencoded.png">    </p:cNvPr>
          <p:cNvPicPr>
            <a:picLocks noChangeAspect="1"/>
          </p:cNvPicPr>
          <p:nvPr/>
        </p:nvPicPr>
        <p:blipFill>
          <a:blip r:embed="rId7"/>
          <a:stretch>
            <a:fillRect/>
          </a:stretch>
        </p:blipFill>
        <p:spPr>
          <a:xfrm>
            <a:off x="6447434" y="4490618"/>
            <a:ext cx="126187" cy="126187"/>
          </a:xfrm>
          <a:prstGeom prst="rect">
            <a:avLst/>
          </a:prstGeom>
        </p:spPr>
      </p:pic>
      <p:sp>
        <p:nvSpPr>
          <p:cNvPr id="32" name="Text 23"/>
          <p:cNvSpPr txBox="1"/>
          <p:nvPr/>
        </p:nvSpPr>
        <p:spPr>
          <a:xfrm>
            <a:off x="6812280" y="4370832"/>
            <a:ext cx="3657600" cy="365760"/>
          </a:xfrm>
          <a:prstGeom prst="rect">
            <a:avLst/>
          </a:prstGeom>
          <a:noFill/>
          <a:ln/>
        </p:spPr>
        <p:txBody>
          <a:bodyPr wrap="square" lIns="0" tIns="0" rIns="0" bIns="0" rtlCol="0" anchor="ctr"/>
          <a:lstStyle/>
          <a:p>
            <a:pPr indent="0" marL="0">
              <a:buNone/>
            </a:pPr>
            <a:r>
              <a:rPr lang="en-US" sz="1400" dirty="0">
                <a:solidFill>
                  <a:schemeClr val="tx1"/>
                </a:solidFill>
              </a:rPr>
              <a:t>Working admin dashboard with live analytics</a:t>
            </a:r>
            <a:endParaRPr lang="en-US" sz="1400" dirty="0"/>
          </a:p>
        </p:txBody>
      </p:sp>
      <p:sp>
        <p:nvSpPr>
          <p:cNvPr id="33" name="Shape 24"/>
          <p:cNvSpPr/>
          <p:nvPr/>
        </p:nvSpPr>
        <p:spPr>
          <a:xfrm>
            <a:off x="6373368" y="4892040"/>
            <a:ext cx="274320" cy="274320"/>
          </a:xfrm>
          <a:prstGeom prst="ellipse">
            <a:avLst/>
          </a:prstGeom>
          <a:solidFill>
            <a:schemeClr val="accent2"/>
          </a:solidFill>
          <a:ln w="12700">
            <a:solidFill>
              <a:schemeClr val="accent2"/>
            </a:solidFill>
            <a:prstDash val="solid"/>
          </a:ln>
        </p:spPr>
      </p:sp>
      <p:pic>
        <p:nvPicPr>
          <p:cNvPr id="34" name="Image 7" descr="preencoded.png">    </p:cNvPr>
          <p:cNvPicPr>
            <a:picLocks noChangeAspect="1"/>
          </p:cNvPicPr>
          <p:nvPr/>
        </p:nvPicPr>
        <p:blipFill>
          <a:blip r:embed="rId8"/>
          <a:stretch>
            <a:fillRect/>
          </a:stretch>
        </p:blipFill>
        <p:spPr>
          <a:xfrm>
            <a:off x="6447434" y="4966106"/>
            <a:ext cx="126187" cy="126187"/>
          </a:xfrm>
          <a:prstGeom prst="rect">
            <a:avLst/>
          </a:prstGeom>
        </p:spPr>
      </p:pic>
      <p:sp>
        <p:nvSpPr>
          <p:cNvPr id="35" name="Text 25"/>
          <p:cNvSpPr txBox="1"/>
          <p:nvPr/>
        </p:nvSpPr>
        <p:spPr>
          <a:xfrm>
            <a:off x="6812280" y="4846320"/>
            <a:ext cx="3657600" cy="365760"/>
          </a:xfrm>
          <a:prstGeom prst="rect">
            <a:avLst/>
          </a:prstGeom>
          <a:noFill/>
          <a:ln/>
        </p:spPr>
        <p:txBody>
          <a:bodyPr wrap="square" lIns="0" tIns="0" rIns="0" bIns="0" rtlCol="0" anchor="ctr"/>
          <a:lstStyle/>
          <a:p>
            <a:pPr indent="0" marL="0">
              <a:buNone/>
            </a:pPr>
            <a:r>
              <a:rPr lang="en-US" sz="1400" dirty="0">
                <a:solidFill>
                  <a:schemeClr val="tx1"/>
                </a:solidFill>
              </a:rPr>
              <a:t>Real-time job alerts and personal notifications</a:t>
            </a:r>
            <a:endParaRPr lang="en-US" sz="1400" dirty="0"/>
          </a:p>
        </p:txBody>
      </p:sp>
      <p:pic>
        <p:nvPicPr>
          <p:cNvPr id="36" name="Image 8" descr="rocket illustration">    </p:cNvPr>
          <p:cNvPicPr>
            <a:picLocks noChangeAspect="1"/>
          </p:cNvPicPr>
          <p:nvPr/>
        </p:nvPicPr>
        <p:blipFill>
          <a:blip r:embed="rId9"/>
          <a:stretch>
            <a:fillRect/>
          </a:stretch>
        </p:blipFill>
        <p:spPr>
          <a:xfrm>
            <a:off x="10469880" y="182880"/>
            <a:ext cx="1188720" cy="1347216"/>
          </a:xfrm>
          <a:prstGeom prst="rect">
            <a:avLst/>
          </a:prstGeom>
        </p:spPr>
      </p:pic>
      <p:pic>
        <p:nvPicPr>
          <p:cNvPr id="37" name="Image 9" descr="hired illustration">    </p:cNvPr>
          <p:cNvPicPr>
            <a:picLocks noChangeAspect="1"/>
          </p:cNvPicPr>
          <p:nvPr/>
        </p:nvPicPr>
        <p:blipFill>
          <a:blip r:embed="rId10"/>
          <a:stretch>
            <a:fillRect/>
          </a:stretch>
        </p:blipFill>
        <p:spPr>
          <a:xfrm>
            <a:off x="274320" y="4983480"/>
            <a:ext cx="1554480" cy="1321308"/>
          </a:xfrm>
          <a:prstGeom prst="rect">
            <a:avLst/>
          </a:prstGeom>
        </p:spPr>
      </p:pic>
      <p:pic>
        <p:nvPicPr>
          <p:cNvPr id="38" name="Image 10" descr="chart illustration">    </p:cNvPr>
          <p:cNvPicPr>
            <a:picLocks noChangeAspect="1"/>
          </p:cNvPicPr>
          <p:nvPr/>
        </p:nvPicPr>
        <p:blipFill>
          <a:blip r:embed="rId11"/>
          <a:stretch>
            <a:fillRect/>
          </a:stretch>
        </p:blipFill>
        <p:spPr>
          <a:xfrm>
            <a:off x="10241280" y="5120640"/>
            <a:ext cx="1417320" cy="1062990"/>
          </a:xfrm>
          <a:prstGeom prst="rect">
            <a:avLst/>
          </a:prstGeom>
        </p:spPr>
      </p:pic>
      <p:sp>
        <p:nvSpPr>
          <p:cNvPr id="25" name="Slide Number Placeholder 0"/>
          <p:cNvSpPr>
            <a:spLocks noGrp="1"/>
          </p:cNvSpPr>
          <p:nvPr>
            <p:ph type="sldNum" sz="quarter" idx="4294967295"/>
          </p:nvPr>
        </p:nvSpPr>
        <p:spPr>
          <a:xfrm>
            <a:off x="5824728" y="614476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flipH="1">
            <a:off x="4297680" y="0"/>
            <a:ext cx="7891272" cy="6858000"/>
          </a:xfrm>
          <a:prstGeom prst="rtTriangle">
            <a:avLst/>
          </a:prstGeom>
          <a:solidFill>
            <a:schemeClr val="accent3">
              <a:alpha val="45000"/>
            </a:schemeClr>
          </a:solidFill>
          <a:ln w="12700">
            <a:solidFill>
              <a:schemeClr val="accent3">
                <a:alpha val="0"/>
              </a:schemeClr>
            </a:solidFill>
            <a:prstDash val="solid"/>
          </a:ln>
        </p:spPr>
      </p:sp>
      <p:sp>
        <p:nvSpPr>
          <p:cNvPr id="3" name="Shape 1"/>
          <p:cNvSpPr/>
          <p:nvPr/>
        </p:nvSpPr>
        <p:spPr>
          <a:xfrm>
            <a:off x="914400" y="3291840"/>
            <a:ext cx="164592" cy="164592"/>
          </a:xfrm>
          <a:prstGeom prst="ellipse">
            <a:avLst/>
          </a:prstGeom>
          <a:solidFill>
            <a:schemeClr val="accent3"/>
          </a:solidFill>
          <a:ln w="12700">
            <a:solidFill>
              <a:schemeClr val="accent3"/>
            </a:solidFill>
            <a:prstDash val="solid"/>
          </a:ln>
        </p:spPr>
      </p:sp>
      <p:sp>
        <p:nvSpPr>
          <p:cNvPr id="4" name="Shape 2"/>
          <p:cNvSpPr/>
          <p:nvPr/>
        </p:nvSpPr>
        <p:spPr>
          <a:xfrm>
            <a:off x="11338560" y="914400"/>
            <a:ext cx="164592" cy="164592"/>
          </a:xfrm>
          <a:prstGeom prst="ellipse">
            <a:avLst/>
          </a:prstGeom>
          <a:solidFill>
            <a:schemeClr val="accent3"/>
          </a:solidFill>
          <a:ln w="12700">
            <a:solidFill>
              <a:schemeClr val="accent3"/>
            </a:solidFill>
            <a:prstDash val="solid"/>
          </a:ln>
        </p:spPr>
      </p:sp>
      <p:sp>
        <p:nvSpPr>
          <p:cNvPr id="5" name="Shape 3"/>
          <p:cNvSpPr/>
          <p:nvPr/>
        </p:nvSpPr>
        <p:spPr>
          <a:xfrm>
            <a:off x="5943600" y="6217920"/>
            <a:ext cx="164592" cy="164592"/>
          </a:xfrm>
          <a:prstGeom prst="ellipse">
            <a:avLst/>
          </a:prstGeom>
          <a:solidFill>
            <a:schemeClr val="accent3"/>
          </a:solidFill>
          <a:ln w="12700">
            <a:solidFill>
              <a:schemeClr val="accent3"/>
            </a:solidFill>
            <a:prstDash val="solid"/>
          </a:ln>
        </p:spPr>
      </p:sp>
      <p:sp>
        <p:nvSpPr>
          <p:cNvPr id="6" name="Shape 4"/>
          <p:cNvSpPr/>
          <p:nvPr/>
        </p:nvSpPr>
        <p:spPr>
          <a:xfrm>
            <a:off x="3291840" y="548640"/>
            <a:ext cx="164592" cy="164592"/>
          </a:xfrm>
          <a:prstGeom prst="ellipse">
            <a:avLst/>
          </a:prstGeom>
          <a:solidFill>
            <a:schemeClr val="accent3"/>
          </a:solidFill>
          <a:ln w="12700">
            <a:solidFill>
              <a:schemeClr val="accent3"/>
            </a:solidFill>
            <a:prstDash val="solid"/>
          </a:ln>
        </p:spPr>
      </p:sp>
      <p:sp>
        <p:nvSpPr>
          <p:cNvPr id="7" name="Text 5"/>
          <p:cNvSpPr txBox="1"/>
          <p:nvPr/>
        </p:nvSpPr>
        <p:spPr>
          <a:xfrm>
            <a:off x="2926080" y="2651760"/>
            <a:ext cx="6336792" cy="1188720"/>
          </a:xfrm>
          <a:prstGeom prst="rect">
            <a:avLst/>
          </a:prstGeom>
          <a:noFill/>
          <a:ln/>
        </p:spPr>
        <p:txBody>
          <a:bodyPr wrap="square" lIns="0" tIns="0" rIns="0" bIns="0" rtlCol="0" anchor="ctr"/>
          <a:lstStyle/>
          <a:p>
            <a:pPr algn="ctr" indent="0" marL="0">
              <a:buNone/>
            </a:pPr>
            <a:r>
              <a:rPr lang="en-US" sz="6000" b="1" dirty="0">
                <a:solidFill>
                  <a:schemeClr val="tx1"/>
                </a:solidFill>
                <a:latin typeface="Cambria" pitchFamily="34" charset="0"/>
                <a:ea typeface="Cambria" pitchFamily="34" charset="-122"/>
                <a:cs typeface="Cambria" pitchFamily="34" charset="-120"/>
              </a:rPr>
              <a:t>THANK YOU</a:t>
            </a:r>
            <a:endParaRPr lang="en-US" sz="6000" dirty="0"/>
          </a:p>
        </p:txBody>
      </p:sp>
      <p:pic>
        <p:nvPicPr>
          <p:cNvPr id="8" name="Image 0" descr="laptop illustration">    </p:cNvPr>
          <p:cNvPicPr>
            <a:picLocks noChangeAspect="1"/>
          </p:cNvPicPr>
          <p:nvPr/>
        </p:nvPicPr>
        <p:blipFill>
          <a:blip r:embed="rId1"/>
          <a:stretch>
            <a:fillRect/>
          </a:stretch>
        </p:blipFill>
        <p:spPr>
          <a:xfrm>
            <a:off x="457200" y="411480"/>
            <a:ext cx="3108960" cy="1989734"/>
          </a:xfrm>
          <a:prstGeom prst="rect">
            <a:avLst/>
          </a:prstGeom>
        </p:spPr>
      </p:pic>
      <p:pic>
        <p:nvPicPr>
          <p:cNvPr id="9" name="Image 1" descr="hired illustration">    </p:cNvPr>
          <p:cNvPicPr>
            <a:picLocks noChangeAspect="1"/>
          </p:cNvPicPr>
          <p:nvPr/>
        </p:nvPicPr>
        <p:blipFill>
          <a:blip r:embed="rId2"/>
          <a:stretch>
            <a:fillRect/>
          </a:stretch>
        </p:blipFill>
        <p:spPr>
          <a:xfrm>
            <a:off x="9144000" y="457200"/>
            <a:ext cx="2468880" cy="2098548"/>
          </a:xfrm>
          <a:prstGeom prst="rect">
            <a:avLst/>
          </a:prstGeom>
        </p:spPr>
      </p:pic>
      <p:pic>
        <p:nvPicPr>
          <p:cNvPr id="10" name="Image 2" descr="resume illustration">    </p:cNvPr>
          <p:cNvPicPr>
            <a:picLocks noChangeAspect="1"/>
          </p:cNvPicPr>
          <p:nvPr/>
        </p:nvPicPr>
        <p:blipFill>
          <a:blip r:embed="rId3"/>
          <a:stretch>
            <a:fillRect/>
          </a:stretch>
        </p:blipFill>
        <p:spPr>
          <a:xfrm>
            <a:off x="914400" y="4023360"/>
            <a:ext cx="1920240" cy="2280285"/>
          </a:xfrm>
          <a:prstGeom prst="rect">
            <a:avLst/>
          </a:prstGeom>
        </p:spPr>
      </p:pic>
      <p:pic>
        <p:nvPicPr>
          <p:cNvPr id="11" name="Image 3" descr="briefcase illustration">    </p:cNvPr>
          <p:cNvPicPr>
            <a:picLocks noChangeAspect="1"/>
          </p:cNvPicPr>
          <p:nvPr/>
        </p:nvPicPr>
        <p:blipFill>
          <a:blip r:embed="rId4"/>
          <a:stretch>
            <a:fillRect/>
          </a:stretch>
        </p:blipFill>
        <p:spPr>
          <a:xfrm>
            <a:off x="9052560" y="4206240"/>
            <a:ext cx="2377440" cy="2097741"/>
          </a:xfrm>
          <a:prstGeom prst="rect">
            <a:avLst/>
          </a:prstGeom>
        </p:spPr>
      </p:pic>
      <p:pic>
        <p:nvPicPr>
          <p:cNvPr id="12" name="Image 4" descr="score illustration">    </p:cNvPr>
          <p:cNvPicPr>
            <a:picLocks noChangeAspect="1"/>
          </p:cNvPicPr>
          <p:nvPr/>
        </p:nvPicPr>
        <p:blipFill>
          <a:blip r:embed="rId5"/>
          <a:stretch>
            <a:fillRect/>
          </a:stretch>
        </p:blipFill>
        <p:spPr>
          <a:xfrm>
            <a:off x="5394960" y="4297680"/>
            <a:ext cx="1417320" cy="1417320"/>
          </a:xfrm>
          <a:prstGeom prst="rect">
            <a:avLst/>
          </a:prstGeom>
        </p:spPr>
      </p:pic>
    </p:spTree>
  </p:cSld>
  <p:clrMapOvr>
    <a:masterClrMapping/>
  </p:clrMapOvr>
</p:sld>
</file>

<file path=ppt/theme/theme1.xml><?xml version="1.0" encoding="utf-8"?>
<a:theme xmlns:a="http://schemas.openxmlformats.org/drawingml/2006/main" name="HireHub Review">
  <a:themeElements>
    <a:clrScheme name="HireHub Review">
      <a:dk1>
        <a:srgbClr val="2E1A5E"/>
      </a:dk1>
      <a:lt1>
        <a:srgbClr val="FFFFFF"/>
      </a:lt1>
      <a:dk2>
        <a:srgbClr val="3A3F4B"/>
      </a:dk2>
      <a:lt2>
        <a:srgbClr val="F8F5FF"/>
      </a:lt2>
      <a:accent1>
        <a:srgbClr val="6C3FC5"/>
      </a:accent1>
      <a:accent2>
        <a:srgbClr val="8B5FD6"/>
      </a:accent2>
      <a:accent3>
        <a:srgbClr val="CDBDF3"/>
      </a:accent3>
      <a:accent4>
        <a:srgbClr val="D4C5F0"/>
      </a:accent4>
      <a:accent5>
        <a:srgbClr val="E9E0FB"/>
      </a:accent5>
      <a:accent6>
        <a:srgbClr val="B79CF0"/>
      </a:accent6>
      <a:hlink>
        <a:srgbClr val="6C3FC5"/>
      </a:hlink>
      <a:folHlink>
        <a:srgbClr val="2E1A5E"/>
      </a:folHlink>
    </a:clrScheme>
    <a:fontScheme name="HireHub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Portal with Resume Parsing and Matching - 1st Review</dc:title>
  <dc:subject>PptxGenJS Presentation</dc:subject>
  <dc:creator>PptxGenJS</dc:creator>
  <cp:lastModifiedBy>PptxGenJS</cp:lastModifiedBy>
  <cp:revision>1</cp:revision>
  <dcterms:created xsi:type="dcterms:W3CDTF">2026-10-03T03:28:34Z</dcterms:created>
  <dcterms:modified xsi:type="dcterms:W3CDTF">2026-10-03T03:28:34Z</dcterms:modified>
</cp:coreProperties>
</file>