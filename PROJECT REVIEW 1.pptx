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76" autoAdjust="0"/>
    <p:restoredTop sz="95033" autoAdjust="0"/>
  </p:normalViewPr>
  <p:slideViewPr>
    <p:cSldViewPr snapToGrid="0" snapToObjects="1">
      <p:cViewPr varScale="1">
        <p:scale>
          <a:sx n="67" d="100"/>
          <a:sy n="67" d="100"/>
        </p:scale>
        <p:origin x="368" y="44"/>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8/20/2026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20-08-2026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20-08-2026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20-08-2026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20-08-2026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20-08-2026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20-08-2026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20-08-2026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20-08-2026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20-08-2026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20-08-2026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20-08-2026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20-08-2026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20-08-2026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20-08-2026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20-08-2026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20-08-2026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20-08-2026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20-08-2026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776839"/>
          </a:xfrm>
        </p:spPr>
        <p:txBody>
          <a:bodyPr>
            <a:noAutofit/>
          </a:bodyPr>
          <a:lstStyle/>
          <a:p>
            <a:pPr algn="ctr">
              <a:lnSpc>
                <a:spcPct val="100000"/>
              </a:lnSpc>
            </a:pPr>
            <a:br>
              <a:rPr lang="en-US" sz="2400" b="1" dirty="0">
                <a:latin typeface="+mn-lt"/>
                <a:cs typeface="Arial" panose="020B0604020202020204" pitchFamily="34" charset="0"/>
              </a:rPr>
            </a:br>
            <a:br>
              <a:rPr lang="en-US" sz="2400" b="1" dirty="0">
                <a:latin typeface="+mn-lt"/>
                <a:cs typeface="Arial" panose="020B0604020202020204" pitchFamily="34" charset="0"/>
              </a:rPr>
            </a:br>
            <a:r>
              <a:rPr lang="en-US" sz="2400" b="1" dirty="0">
                <a:latin typeface="+mn-lt"/>
                <a:cs typeface="Arial" panose="020B0604020202020204" pitchFamily="34" charset="0"/>
              </a:rPr>
              <a:t>1</a:t>
            </a:r>
            <a:r>
              <a:rPr lang="en-US" sz="2400" b="1" baseline="30000" dirty="0">
                <a:latin typeface="+mn-lt"/>
                <a:cs typeface="Arial" panose="020B0604020202020204" pitchFamily="34" charset="0"/>
              </a:rPr>
              <a:t>st</a:t>
            </a:r>
            <a:r>
              <a:rPr lang="en-US" sz="2400" b="1" dirty="0">
                <a:latin typeface="+mn-lt"/>
                <a:cs typeface="Arial" panose="020B0604020202020204" pitchFamily="34" charset="0"/>
              </a:rPr>
              <a:t>  REVIEW</a:t>
            </a: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IN" sz="2800" b="1" dirty="0">
                <a:latin typeface="+mn-lt"/>
              </a:rPr>
              <a:t>Job Portal with resume parsing and matching</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None/>
            </a:pPr>
            <a:r>
              <a:rPr lang="en-US" sz="2400" dirty="0">
                <a:solidFill>
                  <a:srgbClr val="00B050"/>
                </a:solidFill>
              </a:rPr>
              <a:t>Dr. Spandana. S</a:t>
            </a:r>
          </a:p>
          <a:p>
            <a:pPr marL="0" indent="0" algn="ctr">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680840172"/>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A V S N R Akhila</a:t>
                      </a:r>
                    </a:p>
                  </a:txBody>
                  <a:tcPr/>
                </a:tc>
                <a:tc>
                  <a:txBody>
                    <a:bodyPr/>
                    <a:lstStyle/>
                    <a:p>
                      <a:r>
                        <a:rPr lang="en-US" dirty="0"/>
                        <a:t>2520030022</a:t>
                      </a:r>
                    </a:p>
                  </a:txBody>
                  <a:tcPr/>
                </a:tc>
                <a:extLst>
                  <a:ext uri="{0D108BD9-81ED-4DB2-BD59-A6C34878D82A}">
                    <a16:rowId xmlns:a16="http://schemas.microsoft.com/office/drawing/2014/main" val="253518174"/>
                  </a:ext>
                </a:extLst>
              </a:tr>
              <a:tr h="370840">
                <a:tc>
                  <a:txBody>
                    <a:bodyPr/>
                    <a:lstStyle/>
                    <a:p>
                      <a:r>
                        <a:rPr lang="en-US" dirty="0"/>
                        <a:t>Sait Lahari</a:t>
                      </a:r>
                    </a:p>
                  </a:txBody>
                  <a:tcPr/>
                </a:tc>
                <a:tc>
                  <a:txBody>
                    <a:bodyPr/>
                    <a:lstStyle/>
                    <a:p>
                      <a:r>
                        <a:rPr lang="en-US" dirty="0"/>
                        <a:t>2520030311</a:t>
                      </a:r>
                    </a:p>
                  </a:txBody>
                  <a:tcPr/>
                </a:tc>
                <a:extLst>
                  <a:ext uri="{0D108BD9-81ED-4DB2-BD59-A6C34878D82A}">
                    <a16:rowId xmlns:a16="http://schemas.microsoft.com/office/drawing/2014/main" val="2413438055"/>
                  </a:ext>
                </a:extLst>
              </a:tr>
              <a:tr h="370840">
                <a:tc>
                  <a:txBody>
                    <a:bodyPr/>
                    <a:lstStyle/>
                    <a:p>
                      <a:r>
                        <a:rPr lang="en-US" dirty="0"/>
                        <a:t>Manasvi Nilesh Ghag</a:t>
                      </a:r>
                    </a:p>
                  </a:txBody>
                  <a:tcPr/>
                </a:tc>
                <a:tc>
                  <a:txBody>
                    <a:bodyPr/>
                    <a:lstStyle/>
                    <a:p>
                      <a:r>
                        <a:rPr lang="en-US" dirty="0"/>
                        <a:t>2520030335</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4000" b="1" dirty="0">
                <a:solidFill>
                  <a:srgbClr val="0070C0"/>
                </a:solidFill>
                <a:latin typeface="+mn-lt"/>
              </a:rPr>
              <a:t>TEAM NUMBER : 12</a:t>
            </a:r>
            <a:endParaRPr lang="en-IN" sz="4000" b="1" dirty="0">
              <a:solidFill>
                <a:srgbClr val="0070C0"/>
              </a:solidFill>
              <a:latin typeface="+mn-lt"/>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1832137796"/>
              </p:ext>
            </p:extLst>
          </p:nvPr>
        </p:nvGraphicFramePr>
        <p:xfrm>
          <a:off x="838199" y="1416193"/>
          <a:ext cx="10515600" cy="2318206"/>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dirty="0"/>
                        <a:t>A V S N R AKHILA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rPr lang="en-US" dirty="0"/>
                        <a:t>MANASVI NILESH GHAG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SAIT LAHARI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4000" b="1" dirty="0">
                <a:solidFill>
                  <a:srgbClr val="0070C0"/>
                </a:solidFill>
                <a:latin typeface="+mn-lt"/>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3" name="TextBox 2">
            <a:extLst>
              <a:ext uri="{FF2B5EF4-FFF2-40B4-BE49-F238E27FC236}">
                <a16:creationId xmlns:a16="http://schemas.microsoft.com/office/drawing/2014/main" id="{36791855-59C3-0ABF-BF43-F5D1569D98D5}"/>
              </a:ext>
            </a:extLst>
          </p:cNvPr>
          <p:cNvSpPr txBox="1"/>
          <p:nvPr/>
        </p:nvSpPr>
        <p:spPr>
          <a:xfrm>
            <a:off x="481012" y="1531144"/>
            <a:ext cx="11229975" cy="4247317"/>
          </a:xfrm>
          <a:prstGeom prst="rect">
            <a:avLst/>
          </a:prstGeom>
          <a:noFill/>
        </p:spPr>
        <p:txBody>
          <a:bodyPr wrap="square" rtlCol="0">
            <a:spAutoFit/>
          </a:bodyPr>
          <a:lstStyle/>
          <a:p>
            <a:r>
              <a:rPr lang="en-IN" sz="2900" dirty="0"/>
              <a:t>The Job Portal with Resume Parsing and Matching is a smart platform that simplifies the recruitment process for both candidates and recruiters. Candidates can upload their resumes, and the system automatically extracts key details such as skills, education, experience, and certifications. These details are compared with job requirements to calculate a matching score and recommend suitable jobs. Recruiters can also find relevant candidates based on their profiles. The system reduces manual effort, saves time, and improves the efficiency and accuracy of the hiring process.</a:t>
            </a: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4000" b="1" dirty="0">
                <a:solidFill>
                  <a:srgbClr val="0070C0"/>
                </a:solidFill>
                <a:latin typeface="+mn-lt"/>
              </a:rPr>
              <a:t>INTRODUCTION</a:t>
            </a:r>
            <a:endParaRPr lang="en-IN" sz="4000" dirty="0">
              <a:solidFill>
                <a:srgbClr val="0070C0"/>
              </a:solidFill>
              <a:latin typeface="+mn-lt"/>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9" name="TextBox 8">
            <a:extLst>
              <a:ext uri="{FF2B5EF4-FFF2-40B4-BE49-F238E27FC236}">
                <a16:creationId xmlns:a16="http://schemas.microsoft.com/office/drawing/2014/main" id="{A5F6CA17-9BC6-9635-4C14-7BA93A55CCFA}"/>
              </a:ext>
            </a:extLst>
          </p:cNvPr>
          <p:cNvSpPr txBox="1"/>
          <p:nvPr/>
        </p:nvSpPr>
        <p:spPr>
          <a:xfrm>
            <a:off x="481012" y="1531144"/>
            <a:ext cx="11229975" cy="4401205"/>
          </a:xfrm>
          <a:prstGeom prst="rect">
            <a:avLst/>
          </a:prstGeom>
          <a:noFill/>
        </p:spPr>
        <p:txBody>
          <a:bodyPr wrap="square" rtlCol="0">
            <a:spAutoFit/>
          </a:bodyPr>
          <a:lstStyle/>
          <a:p>
            <a:r>
              <a:rPr lang="en-IN" sz="2800" dirty="0"/>
              <a:t>Finding the right job can be challenging for candidates due to the large number of job opportunities available, while recruiters often spend significant time manually screening resumes.</a:t>
            </a:r>
          </a:p>
          <a:p>
            <a:endParaRPr lang="en-IN" sz="2800" dirty="0"/>
          </a:p>
          <a:p>
            <a:r>
              <a:rPr lang="en-IN" sz="2800" dirty="0"/>
              <a:t>The Job Portal with Resume Parsing and Matching aims to simplify this process by providing an automated platform that connects candidates with suitable job opportunities. The system </a:t>
            </a:r>
            <a:r>
              <a:rPr lang="en-IN" sz="2800" dirty="0" err="1"/>
              <a:t>analyzes</a:t>
            </a:r>
            <a:r>
              <a:rPr lang="en-IN" sz="2800" dirty="0"/>
              <a:t> resumes, identifies important candidate information, and matches it with job requirements. This helps reduce manual effort, save time, and make the recruitment process more efficient and organized.</a:t>
            </a: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4000" b="1" dirty="0">
                <a:solidFill>
                  <a:srgbClr val="0070C0"/>
                </a:solidFill>
                <a:latin typeface="+mn-lt"/>
              </a:rPr>
              <a:t>EXISTING SYSTEM</a:t>
            </a:r>
            <a:endParaRPr lang="en-IN" sz="4000" dirty="0">
              <a:solidFill>
                <a:srgbClr val="0070C0"/>
              </a:solidFill>
              <a:latin typeface="+mn-lt"/>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9" name="TextBox 8">
            <a:extLst>
              <a:ext uri="{FF2B5EF4-FFF2-40B4-BE49-F238E27FC236}">
                <a16:creationId xmlns:a16="http://schemas.microsoft.com/office/drawing/2014/main" id="{B532C58F-E7E5-BD0C-BB0C-3C29373A2832}"/>
              </a:ext>
            </a:extLst>
          </p:cNvPr>
          <p:cNvSpPr txBox="1"/>
          <p:nvPr/>
        </p:nvSpPr>
        <p:spPr>
          <a:xfrm>
            <a:off x="481012" y="1531144"/>
            <a:ext cx="11229975" cy="4862870"/>
          </a:xfrm>
          <a:prstGeom prst="rect">
            <a:avLst/>
          </a:prstGeom>
          <a:noFill/>
        </p:spPr>
        <p:txBody>
          <a:bodyPr wrap="square" rtlCol="0">
            <a:spAutoFit/>
          </a:bodyPr>
          <a:lstStyle/>
          <a:p>
            <a:r>
              <a:rPr lang="en-IN" sz="2000" dirty="0"/>
              <a:t>In the existing recruitment system, candidates usually search for jobs manually through different job portals and apply based on job descriptions. Recruiters, on the other hand, receive a large number of resumes and manually review and shortlist candidates based on their skills, education, and experience.</a:t>
            </a:r>
          </a:p>
          <a:p>
            <a:r>
              <a:rPr lang="en-IN" sz="2000" dirty="0"/>
              <a:t>This process has several limitations:</a:t>
            </a:r>
          </a:p>
          <a:p>
            <a:endParaRPr lang="en-IN" sz="2000" dirty="0"/>
          </a:p>
          <a:p>
            <a:pPr marL="342900" lvl="0" indent="-342900">
              <a:lnSpc>
                <a:spcPct val="150000"/>
              </a:lnSpc>
              <a:buFont typeface="Arial" panose="020B0604020202020204" pitchFamily="34" charset="0"/>
              <a:buChar char="•"/>
            </a:pPr>
            <a:r>
              <a:rPr lang="en-IN" sz="2000" dirty="0"/>
              <a:t>Time-consuming resume screening </a:t>
            </a:r>
          </a:p>
          <a:p>
            <a:pPr marL="342900" lvl="0" indent="-342900">
              <a:lnSpc>
                <a:spcPct val="150000"/>
              </a:lnSpc>
              <a:buFont typeface="Arial" panose="020B0604020202020204" pitchFamily="34" charset="0"/>
              <a:buChar char="•"/>
            </a:pPr>
            <a:r>
              <a:rPr lang="en-IN" sz="2000" dirty="0"/>
              <a:t>High chance of missing suitable candidates </a:t>
            </a:r>
          </a:p>
          <a:p>
            <a:pPr marL="342900" lvl="0" indent="-342900">
              <a:lnSpc>
                <a:spcPct val="150000"/>
              </a:lnSpc>
              <a:buFont typeface="Arial" panose="020B0604020202020204" pitchFamily="34" charset="0"/>
              <a:buChar char="•"/>
            </a:pPr>
            <a:r>
              <a:rPr lang="en-IN" sz="2000" dirty="0"/>
              <a:t>Mostly depends on manual searching and filtering </a:t>
            </a:r>
          </a:p>
          <a:p>
            <a:pPr marL="342900" lvl="0" indent="-342900">
              <a:lnSpc>
                <a:spcPct val="150000"/>
              </a:lnSpc>
              <a:buFont typeface="Arial" panose="020B0604020202020204" pitchFamily="34" charset="0"/>
              <a:buChar char="•"/>
            </a:pPr>
            <a:r>
              <a:rPr lang="en-IN" sz="2000" dirty="0"/>
              <a:t>Recruiters have to review resumes one by one </a:t>
            </a:r>
          </a:p>
          <a:p>
            <a:pPr marL="342900" lvl="0" indent="-342900">
              <a:lnSpc>
                <a:spcPct val="150000"/>
              </a:lnSpc>
              <a:buFont typeface="Arial" panose="020B0604020202020204" pitchFamily="34" charset="0"/>
              <a:buChar char="•"/>
            </a:pPr>
            <a:r>
              <a:rPr lang="en-IN" sz="2000" dirty="0"/>
              <a:t>Job recommendations may not be accurately matched to candidate skills </a:t>
            </a:r>
          </a:p>
          <a:p>
            <a:pPr lvl="0"/>
            <a:endParaRPr lang="en-IN" sz="2000" dirty="0"/>
          </a:p>
          <a:p>
            <a:r>
              <a:rPr lang="en-IN" sz="2000" dirty="0"/>
              <a:t>In short: The existing system relies heavily on manual job searching and resume screening, making the recruitment process slower and less efficient.</a:t>
            </a: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4000" b="1" dirty="0">
                <a:solidFill>
                  <a:srgbClr val="0070C0"/>
                </a:solidFill>
                <a:latin typeface="+mn-lt"/>
              </a:rPr>
              <a:t>PROBLEM</a:t>
            </a:r>
            <a:endParaRPr lang="en-IN" sz="4000" dirty="0">
              <a:solidFill>
                <a:srgbClr val="0070C0"/>
              </a:solidFill>
              <a:latin typeface="+mn-lt"/>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7" name="TextBox 6">
            <a:extLst>
              <a:ext uri="{FF2B5EF4-FFF2-40B4-BE49-F238E27FC236}">
                <a16:creationId xmlns:a16="http://schemas.microsoft.com/office/drawing/2014/main" id="{FE18C1A7-BDE6-6AEF-DCF7-2692828CEACA}"/>
              </a:ext>
            </a:extLst>
          </p:cNvPr>
          <p:cNvSpPr txBox="1"/>
          <p:nvPr/>
        </p:nvSpPr>
        <p:spPr>
          <a:xfrm>
            <a:off x="481012" y="1531144"/>
            <a:ext cx="11229975" cy="4524315"/>
          </a:xfrm>
          <a:prstGeom prst="rect">
            <a:avLst/>
          </a:prstGeom>
          <a:noFill/>
        </p:spPr>
        <p:txBody>
          <a:bodyPr wrap="square" rtlCol="0">
            <a:spAutoFit/>
          </a:bodyPr>
          <a:lstStyle/>
          <a:p>
            <a:r>
              <a:rPr lang="en-IN" sz="2400" dirty="0"/>
              <a:t>The current job recruitment process is often time-consuming and inefficient for both job seekers and recruiters. </a:t>
            </a:r>
          </a:p>
          <a:p>
            <a:endParaRPr lang="en-IN" sz="2400" dirty="0"/>
          </a:p>
          <a:p>
            <a:r>
              <a:rPr lang="en-IN" sz="2400" dirty="0"/>
              <a:t>Candidates have to search through many job postings to find suitable opportunities, while recruiters must manually review a large number of resumes to identify qualified candidates. </a:t>
            </a:r>
          </a:p>
          <a:p>
            <a:endParaRPr lang="en-IN" sz="2400" dirty="0"/>
          </a:p>
          <a:p>
            <a:r>
              <a:rPr lang="en-IN" sz="2400" dirty="0"/>
              <a:t>This can lead to delays, mismatched job applications, and missed suitable candidates. </a:t>
            </a:r>
          </a:p>
          <a:p>
            <a:endParaRPr lang="en-IN" sz="2400" dirty="0"/>
          </a:p>
          <a:p>
            <a:r>
              <a:rPr lang="en-IN" sz="2400" dirty="0"/>
              <a:t>Therefore, there is a need for an automated system that can </a:t>
            </a:r>
            <a:r>
              <a:rPr lang="en-IN" sz="2400" dirty="0" err="1"/>
              <a:t>analyze</a:t>
            </a:r>
            <a:r>
              <a:rPr lang="en-IN" sz="2400" dirty="0"/>
              <a:t> resumes, compare candidate skills with job requirements, and provide accurate job and candidate recommendations.</a:t>
            </a: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4000" b="1" dirty="0">
                <a:solidFill>
                  <a:srgbClr val="0070C0"/>
                </a:solidFill>
                <a:latin typeface="+mn-lt"/>
              </a:rPr>
              <a:t>SOLUTION (Contribution)</a:t>
            </a:r>
            <a:endParaRPr lang="en-IN" sz="4000" dirty="0">
              <a:solidFill>
                <a:srgbClr val="0070C0"/>
              </a:solidFill>
              <a:latin typeface="+mn-lt"/>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9" name="TextBox 8">
            <a:extLst>
              <a:ext uri="{FF2B5EF4-FFF2-40B4-BE49-F238E27FC236}">
                <a16:creationId xmlns:a16="http://schemas.microsoft.com/office/drawing/2014/main" id="{4DF90C48-73EA-FFBA-982C-AFE2AB091EB1}"/>
              </a:ext>
            </a:extLst>
          </p:cNvPr>
          <p:cNvSpPr txBox="1"/>
          <p:nvPr/>
        </p:nvSpPr>
        <p:spPr>
          <a:xfrm>
            <a:off x="481012" y="1531144"/>
            <a:ext cx="11229975" cy="4832092"/>
          </a:xfrm>
          <a:prstGeom prst="rect">
            <a:avLst/>
          </a:prstGeom>
          <a:noFill/>
        </p:spPr>
        <p:txBody>
          <a:bodyPr wrap="square" rtlCol="0">
            <a:spAutoFit/>
          </a:bodyPr>
          <a:lstStyle/>
          <a:p>
            <a:r>
              <a:rPr lang="en-IN" sz="2200" dirty="0"/>
              <a:t>The proposed system is a smart Job Portal with Resume Parsing and Matching that automates the job-search and recruitment process. </a:t>
            </a:r>
          </a:p>
          <a:p>
            <a:endParaRPr lang="en-IN" sz="2200" dirty="0"/>
          </a:p>
          <a:p>
            <a:pPr marL="457200" indent="-457200">
              <a:buFont typeface="+mj-lt"/>
              <a:buAutoNum type="arabicPeriod"/>
            </a:pPr>
            <a:r>
              <a:rPr lang="en-IN" sz="2200" dirty="0"/>
              <a:t>Candidates can upload their resumes, and the system automatically extracts details such as skills, education, experience, and certifications. </a:t>
            </a:r>
          </a:p>
          <a:p>
            <a:pPr marL="457200" indent="-457200">
              <a:buFont typeface="+mj-lt"/>
              <a:buAutoNum type="arabicPeriod"/>
            </a:pPr>
            <a:endParaRPr lang="en-IN" sz="2200" dirty="0"/>
          </a:p>
          <a:p>
            <a:pPr marL="457200" indent="-457200">
              <a:buFont typeface="+mj-lt"/>
              <a:buAutoNum type="arabicPeriod"/>
            </a:pPr>
            <a:r>
              <a:rPr lang="en-IN" sz="2200" dirty="0"/>
              <a:t>These details are then compared with the requirements of available jobs to generate a matching score. </a:t>
            </a:r>
          </a:p>
          <a:p>
            <a:pPr marL="457200" indent="-457200">
              <a:buFont typeface="+mj-lt"/>
              <a:buAutoNum type="arabicPeriod"/>
            </a:pPr>
            <a:endParaRPr lang="en-IN" sz="2200" dirty="0"/>
          </a:p>
          <a:p>
            <a:pPr marL="457200" indent="-457200">
              <a:buFont typeface="+mj-lt"/>
              <a:buAutoNum type="arabicPeriod"/>
            </a:pPr>
            <a:r>
              <a:rPr lang="en-IN" sz="2200" dirty="0"/>
              <a:t>Based on this score, suitable jobs are recommended to candidates, while recruiters can find and shortlist relevant candidates more easily. </a:t>
            </a:r>
          </a:p>
          <a:p>
            <a:pPr marL="457200" indent="-457200">
              <a:buFont typeface="+mj-lt"/>
              <a:buAutoNum type="arabicPeriod"/>
            </a:pPr>
            <a:endParaRPr lang="en-IN" sz="2200" dirty="0"/>
          </a:p>
          <a:p>
            <a:pPr marL="457200" indent="-457200">
              <a:buFont typeface="+mj-lt"/>
              <a:buAutoNum type="arabicPeriod"/>
            </a:pPr>
            <a:r>
              <a:rPr lang="en-IN" sz="2200" dirty="0"/>
              <a:t>This reduces manual effort, saves time, and improves the efficiency of the recruitment process.</a:t>
            </a:r>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4000" b="1" dirty="0">
                <a:solidFill>
                  <a:srgbClr val="0070C0"/>
                </a:solidFill>
              </a:rPr>
              <a:t>Objectives </a:t>
            </a:r>
            <a:endParaRPr lang="en-IN" sz="40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9" name="TextBox 8">
            <a:extLst>
              <a:ext uri="{FF2B5EF4-FFF2-40B4-BE49-F238E27FC236}">
                <a16:creationId xmlns:a16="http://schemas.microsoft.com/office/drawing/2014/main" id="{8FEBB4C1-DDF2-734D-22BD-57BBDF087437}"/>
              </a:ext>
            </a:extLst>
          </p:cNvPr>
          <p:cNvSpPr txBox="1"/>
          <p:nvPr/>
        </p:nvSpPr>
        <p:spPr>
          <a:xfrm>
            <a:off x="481012" y="1531144"/>
            <a:ext cx="11229975" cy="4921988"/>
          </a:xfrm>
          <a:prstGeom prst="rect">
            <a:avLst/>
          </a:prstGeom>
          <a:noFill/>
        </p:spPr>
        <p:txBody>
          <a:bodyPr wrap="square" rtlCol="0">
            <a:spAutoFit/>
          </a:bodyPr>
          <a:lstStyle/>
          <a:p>
            <a:r>
              <a:rPr lang="en-IN" sz="2800" dirty="0"/>
              <a:t>The main objectives of the Job Portal with Resume Parsing and Matching are:</a:t>
            </a:r>
          </a:p>
          <a:p>
            <a:pPr marL="342900" lvl="0" indent="-342900">
              <a:lnSpc>
                <a:spcPct val="200000"/>
              </a:lnSpc>
              <a:buFont typeface="Arial" panose="020B0604020202020204" pitchFamily="34" charset="0"/>
              <a:buChar char="•"/>
            </a:pPr>
            <a:r>
              <a:rPr lang="en-IN" sz="2200" dirty="0"/>
              <a:t>To automate resume screening by extracting important candidate information. </a:t>
            </a:r>
          </a:p>
          <a:p>
            <a:pPr marL="342900" lvl="0" indent="-342900">
              <a:lnSpc>
                <a:spcPct val="200000"/>
              </a:lnSpc>
              <a:buFont typeface="Arial" panose="020B0604020202020204" pitchFamily="34" charset="0"/>
              <a:buChar char="•"/>
            </a:pPr>
            <a:r>
              <a:rPr lang="en-IN" sz="2200" dirty="0"/>
              <a:t>To match candidates with suitable jobs based on their skills, education, and experience. </a:t>
            </a:r>
          </a:p>
          <a:p>
            <a:pPr marL="342900" lvl="0" indent="-342900">
              <a:lnSpc>
                <a:spcPct val="200000"/>
              </a:lnSpc>
              <a:buFont typeface="Arial" panose="020B0604020202020204" pitchFamily="34" charset="0"/>
              <a:buChar char="•"/>
            </a:pPr>
            <a:r>
              <a:rPr lang="en-IN" sz="2200" dirty="0"/>
              <a:t>To generate a matching score for better job recommendations. </a:t>
            </a:r>
          </a:p>
          <a:p>
            <a:pPr marL="342900" lvl="0" indent="-342900">
              <a:lnSpc>
                <a:spcPct val="200000"/>
              </a:lnSpc>
              <a:buFont typeface="Arial" panose="020B0604020202020204" pitchFamily="34" charset="0"/>
              <a:buChar char="•"/>
            </a:pPr>
            <a:r>
              <a:rPr lang="en-IN" sz="2200" dirty="0"/>
              <a:t>To help recruiters identify relevant candidates quickly. </a:t>
            </a:r>
          </a:p>
          <a:p>
            <a:pPr marL="342900" lvl="0" indent="-342900">
              <a:lnSpc>
                <a:spcPct val="200000"/>
              </a:lnSpc>
              <a:buFont typeface="Arial" panose="020B0604020202020204" pitchFamily="34" charset="0"/>
              <a:buChar char="•"/>
            </a:pPr>
            <a:r>
              <a:rPr lang="en-IN" sz="2200" dirty="0"/>
              <a:t>To reduce manual effort and time in the recruitment process. </a:t>
            </a:r>
          </a:p>
          <a:p>
            <a:pPr marL="342900" lvl="0" indent="-342900">
              <a:lnSpc>
                <a:spcPct val="200000"/>
              </a:lnSpc>
              <a:buFont typeface="Arial" panose="020B0604020202020204" pitchFamily="34" charset="0"/>
              <a:buChar char="•"/>
            </a:pPr>
            <a:r>
              <a:rPr lang="en-IN" sz="2200" dirty="0"/>
              <a:t>To improve the accuracy and efficiency of job matching.</a:t>
            </a: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4000" b="1" dirty="0">
                <a:solidFill>
                  <a:srgbClr val="0070C0"/>
                </a:solidFill>
                <a:latin typeface="+mn-lt"/>
              </a:rPr>
              <a:t>Modules</a:t>
            </a:r>
            <a:endParaRPr lang="en-IN" sz="4000" dirty="0">
              <a:solidFill>
                <a:srgbClr val="0070C0"/>
              </a:solidFill>
              <a:latin typeface="+mn-lt"/>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7" name="TextBox 6">
            <a:extLst>
              <a:ext uri="{FF2B5EF4-FFF2-40B4-BE49-F238E27FC236}">
                <a16:creationId xmlns:a16="http://schemas.microsoft.com/office/drawing/2014/main" id="{94B40135-5487-57A1-AC13-9922DFDF5DAD}"/>
              </a:ext>
            </a:extLst>
          </p:cNvPr>
          <p:cNvSpPr txBox="1"/>
          <p:nvPr/>
        </p:nvSpPr>
        <p:spPr>
          <a:xfrm>
            <a:off x="481012" y="1531144"/>
            <a:ext cx="11229975" cy="4893647"/>
          </a:xfrm>
          <a:prstGeom prst="rect">
            <a:avLst/>
          </a:prstGeom>
          <a:noFill/>
        </p:spPr>
        <p:txBody>
          <a:bodyPr wrap="square" rtlCol="0">
            <a:spAutoFit/>
          </a:bodyPr>
          <a:lstStyle/>
          <a:p>
            <a:pPr marL="342900" indent="-342900">
              <a:buFont typeface="Arial" panose="020B0604020202020204" pitchFamily="34" charset="0"/>
              <a:buChar char="•"/>
            </a:pPr>
            <a:r>
              <a:rPr lang="en-IN" sz="2400" dirty="0"/>
              <a:t>Candidate Profile &amp; Resume Upload</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IN" sz="2400" dirty="0"/>
              <a:t>Resume Parser (NLP)</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IN" sz="2400" dirty="0"/>
              <a:t>Job Posting &amp; Approval</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IN" sz="2400" dirty="0"/>
              <a:t>Match Scoring Engine</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IN" sz="2400" dirty="0"/>
              <a:t>Application Tracking (ATS)</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IN" sz="2400" dirty="0"/>
              <a:t>Interview Scheduler</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IN" sz="2400" dirty="0"/>
              <a:t>Recruiter Analytics</a:t>
            </a:r>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4000" b="1" dirty="0">
                <a:solidFill>
                  <a:srgbClr val="0070C0"/>
                </a:solidFill>
                <a:latin typeface="+mn-lt"/>
              </a:rPr>
              <a:t>SOFTWARE REQUIREMENTS </a:t>
            </a:r>
            <a:endParaRPr lang="en-IN" sz="4000" dirty="0">
              <a:solidFill>
                <a:srgbClr val="0070C0"/>
              </a:solidFill>
              <a:latin typeface="+mn-lt"/>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7" name="TextBox 6">
            <a:extLst>
              <a:ext uri="{FF2B5EF4-FFF2-40B4-BE49-F238E27FC236}">
                <a16:creationId xmlns:a16="http://schemas.microsoft.com/office/drawing/2014/main" id="{73C10C7A-D731-CBC4-F34A-D4604A730BFB}"/>
              </a:ext>
            </a:extLst>
          </p:cNvPr>
          <p:cNvSpPr txBox="1"/>
          <p:nvPr/>
        </p:nvSpPr>
        <p:spPr>
          <a:xfrm>
            <a:off x="481012" y="1531144"/>
            <a:ext cx="11229975" cy="4832092"/>
          </a:xfrm>
          <a:prstGeom prst="rect">
            <a:avLst/>
          </a:prstGeom>
          <a:noFill/>
        </p:spPr>
        <p:txBody>
          <a:bodyPr wrap="square" rtlCol="0">
            <a:spAutoFit/>
          </a:bodyPr>
          <a:lstStyle/>
          <a:p>
            <a:pPr marL="342900" indent="-342900">
              <a:buFont typeface="Arial" panose="020B0604020202020204" pitchFamily="34" charset="0"/>
              <a:buChar char="•"/>
            </a:pPr>
            <a:r>
              <a:rPr lang="en-IN" sz="2800" dirty="0"/>
              <a:t>React.js</a:t>
            </a:r>
          </a:p>
          <a:p>
            <a:pPr marL="342900" indent="-342900">
              <a:buFont typeface="Arial" panose="020B0604020202020204" pitchFamily="34" charset="0"/>
              <a:buChar char="•"/>
            </a:pPr>
            <a:endParaRPr lang="en-IN" sz="2800" dirty="0"/>
          </a:p>
          <a:p>
            <a:pPr marL="342900" indent="-342900">
              <a:buFont typeface="Arial" panose="020B0604020202020204" pitchFamily="34" charset="0"/>
              <a:buChar char="•"/>
            </a:pPr>
            <a:r>
              <a:rPr lang="en-IN" sz="2800" dirty="0"/>
              <a:t>Node.js</a:t>
            </a:r>
          </a:p>
          <a:p>
            <a:pPr marL="342900" indent="-342900">
              <a:buFont typeface="Arial" panose="020B0604020202020204" pitchFamily="34" charset="0"/>
              <a:buChar char="•"/>
            </a:pPr>
            <a:endParaRPr lang="en-IN" sz="2800" dirty="0"/>
          </a:p>
          <a:p>
            <a:pPr marL="342900" indent="-342900">
              <a:buFont typeface="Arial" panose="020B0604020202020204" pitchFamily="34" charset="0"/>
              <a:buChar char="•"/>
            </a:pPr>
            <a:r>
              <a:rPr lang="en-IN" sz="2800" dirty="0"/>
              <a:t>Express</a:t>
            </a:r>
          </a:p>
          <a:p>
            <a:pPr marL="342900" indent="-342900">
              <a:buFont typeface="Arial" panose="020B0604020202020204" pitchFamily="34" charset="0"/>
              <a:buChar char="•"/>
            </a:pPr>
            <a:endParaRPr lang="en-IN" sz="2800" dirty="0"/>
          </a:p>
          <a:p>
            <a:pPr marL="342900" indent="-342900">
              <a:buFont typeface="Arial" panose="020B0604020202020204" pitchFamily="34" charset="0"/>
              <a:buChar char="•"/>
            </a:pPr>
            <a:r>
              <a:rPr lang="en-IN" sz="2800" dirty="0"/>
              <a:t>MySQL</a:t>
            </a:r>
          </a:p>
          <a:p>
            <a:pPr marL="342900" indent="-342900">
              <a:buFont typeface="Arial" panose="020B0604020202020204" pitchFamily="34" charset="0"/>
              <a:buChar char="•"/>
            </a:pPr>
            <a:endParaRPr lang="en-IN" sz="2800" dirty="0"/>
          </a:p>
          <a:p>
            <a:pPr marL="342900" indent="-342900">
              <a:buFont typeface="Arial" panose="020B0604020202020204" pitchFamily="34" charset="0"/>
              <a:buChar char="•"/>
            </a:pPr>
            <a:r>
              <a:rPr lang="en-IN" sz="2800" dirty="0"/>
              <a:t>Python NLP Microservice</a:t>
            </a:r>
          </a:p>
          <a:p>
            <a:pPr marL="342900" indent="-342900">
              <a:buFont typeface="Arial" panose="020B0604020202020204" pitchFamily="34" charset="0"/>
              <a:buChar char="•"/>
            </a:pPr>
            <a:endParaRPr lang="en-IN" sz="2800" dirty="0"/>
          </a:p>
          <a:p>
            <a:pPr marL="342900" indent="-342900">
              <a:buFont typeface="Arial" panose="020B0604020202020204" pitchFamily="34" charset="0"/>
              <a:buChar char="•"/>
            </a:pPr>
            <a:r>
              <a:rPr lang="en-IN" sz="2800" dirty="0"/>
              <a:t>Elasticsearch </a:t>
            </a:r>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534219" y="371773"/>
            <a:ext cx="7876606" cy="805366"/>
          </a:xfrm>
        </p:spPr>
        <p:txBody>
          <a:bodyPr anchor="ctr">
            <a:noAutofit/>
          </a:bodyPr>
          <a:lstStyle/>
          <a:p>
            <a:pPr algn="ctr"/>
            <a:r>
              <a:rPr lang="en-US" sz="4000" b="1" dirty="0">
                <a:solidFill>
                  <a:srgbClr val="0070C0"/>
                </a:solidFill>
                <a:latin typeface="+mn-lt"/>
              </a:rPr>
              <a:t>CONCLUSION AND FUTURE SCOPE</a:t>
            </a: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4" name="TextBox 3">
            <a:extLst>
              <a:ext uri="{FF2B5EF4-FFF2-40B4-BE49-F238E27FC236}">
                <a16:creationId xmlns:a16="http://schemas.microsoft.com/office/drawing/2014/main" id="{4F7E23C7-53FF-2AD9-D331-BD982139FCA1}"/>
              </a:ext>
            </a:extLst>
          </p:cNvPr>
          <p:cNvSpPr txBox="1"/>
          <p:nvPr/>
        </p:nvSpPr>
        <p:spPr>
          <a:xfrm>
            <a:off x="481012" y="1531144"/>
            <a:ext cx="11229975" cy="4893647"/>
          </a:xfrm>
          <a:prstGeom prst="rect">
            <a:avLst/>
          </a:prstGeom>
          <a:noFill/>
        </p:spPr>
        <p:txBody>
          <a:bodyPr wrap="square" rtlCol="0">
            <a:spAutoFit/>
          </a:bodyPr>
          <a:lstStyle/>
          <a:p>
            <a:r>
              <a:rPr lang="en-IN" sz="2400" dirty="0"/>
              <a:t>The Job Portal with Resume Parsing and Matching provides an efficient solution to simplify the recruitment process. By automatically extracting resume details and matching them with job requirements, the system reduces manual effort, saves time, and improves job recommendations. It benefits both candidates and recruiters by making the hiring process faster and more organized.</a:t>
            </a:r>
          </a:p>
          <a:p>
            <a:endParaRPr lang="en-IN" sz="2400" dirty="0"/>
          </a:p>
          <a:p>
            <a:r>
              <a:rPr lang="en-IN" sz="2400" dirty="0"/>
              <a:t>Future Scope :</a:t>
            </a:r>
          </a:p>
          <a:p>
            <a:pPr marL="342900" lvl="0" indent="-342900">
              <a:buFont typeface="Arial" panose="020B0604020202020204" pitchFamily="34" charset="0"/>
              <a:buChar char="•"/>
            </a:pPr>
            <a:r>
              <a:rPr lang="en-IN" sz="2400" dirty="0"/>
              <a:t>Use advanced AI/NLP for more accurate resume analysis. </a:t>
            </a:r>
          </a:p>
          <a:p>
            <a:pPr marL="342900" lvl="0" indent="-342900">
              <a:buFont typeface="Arial" panose="020B0604020202020204" pitchFamily="34" charset="0"/>
              <a:buChar char="•"/>
            </a:pPr>
            <a:r>
              <a:rPr lang="en-IN" sz="2400" dirty="0"/>
              <a:t>Improve matching using machine learning-based recommendations. </a:t>
            </a:r>
          </a:p>
          <a:p>
            <a:pPr marL="342900" lvl="0" indent="-342900">
              <a:buFont typeface="Arial" panose="020B0604020202020204" pitchFamily="34" charset="0"/>
              <a:buChar char="•"/>
            </a:pPr>
            <a:r>
              <a:rPr lang="en-IN" sz="2400" dirty="0"/>
              <a:t>Support more resume formats and languages. </a:t>
            </a:r>
          </a:p>
          <a:p>
            <a:pPr marL="342900" lvl="0" indent="-342900">
              <a:buFont typeface="Arial" panose="020B0604020202020204" pitchFamily="34" charset="0"/>
              <a:buChar char="•"/>
            </a:pPr>
            <a:r>
              <a:rPr lang="en-IN" sz="2400" dirty="0"/>
              <a:t>Add an AI chatbot for job and career assistance. </a:t>
            </a:r>
          </a:p>
          <a:p>
            <a:pPr marL="342900" lvl="0" indent="-342900">
              <a:buFont typeface="Arial" panose="020B0604020202020204" pitchFamily="34" charset="0"/>
              <a:buChar char="•"/>
            </a:pPr>
            <a:r>
              <a:rPr lang="en-IN" sz="2400" dirty="0"/>
              <a:t>Provide advanced analytics for recruiters. </a:t>
            </a:r>
          </a:p>
          <a:p>
            <a:pPr marL="342900" lvl="0" indent="-342900">
              <a:buFont typeface="Arial" panose="020B0604020202020204" pitchFamily="34" charset="0"/>
              <a:buChar char="•"/>
            </a:pPr>
            <a:r>
              <a:rPr lang="en-IN" sz="2400" dirty="0"/>
              <a:t>Add real-time job alerts and personalized notifications. </a:t>
            </a: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8306</TotalTime>
  <Words>843</Words>
  <Application>Microsoft Office PowerPoint</Application>
  <PresentationFormat>Widescreen</PresentationFormat>
  <Paragraphs>137</Paragraphs>
  <Slides>12</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Calibri</vt:lpstr>
      <vt:lpstr>Calibri Light</vt:lpstr>
      <vt:lpstr>Office Theme</vt:lpstr>
      <vt:lpstr>Custom Design</vt:lpstr>
      <vt:lpstr>  1st  REVIEW  Job Portal with resume parsing and matching </vt:lpstr>
      <vt:lpstr>TEAM NUMBER : 12</vt:lpstr>
      <vt:lpstr>ABSTRACT</vt:lpstr>
      <vt:lpstr>INTRODUCTION</vt:lpstr>
      <vt:lpstr>EXISTING SYSTEM</vt:lpstr>
      <vt:lpstr>PROBLEM</vt:lpstr>
      <vt:lpstr>SOLUTION (Contribution)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Manasvi Ghag</cp:lastModifiedBy>
  <cp:revision>97</cp:revision>
  <dcterms:created xsi:type="dcterms:W3CDTF">2022-05-20T10:20:31Z</dcterms:created>
  <dcterms:modified xsi:type="dcterms:W3CDTF">2026-08-20T06:30:33Z</dcterms:modified>
</cp:coreProperties>
</file>